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Keep the opening relaxed.</a:t>
            </a:r>
            <a:endParaRPr/>
          </a:p>
          <a:p>
            <a:pPr indent="0" lvl="0" marL="0" rtl="0" algn="l">
              <a:spcBef>
                <a:spcPts val="0"/>
              </a:spcBef>
              <a:spcAft>
                <a:spcPts val="0"/>
              </a:spcAft>
              <a:buNone/>
            </a:pPr>
            <a:r>
              <a:rPr lang="en-US" sz="1200"/>
              <a:t>- Ask the chat question and read 2-3 responses.</a:t>
            </a:r>
            <a:endParaRPr/>
          </a:p>
          <a:p>
            <a:pPr indent="0" lvl="0" marL="0" rtl="0" algn="l">
              <a:spcBef>
                <a:spcPts val="0"/>
              </a:spcBef>
              <a:spcAft>
                <a:spcPts val="0"/>
              </a:spcAft>
              <a:buNone/>
            </a:pPr>
            <a:r>
              <a:rPr lang="en-US" sz="1200"/>
              <a:t>- Set expectation: short slides, a few follow-alongs.</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 name="Google Shape;2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Invite people to follow along in Claude.</a:t>
            </a:r>
            <a:endParaRPr/>
          </a:p>
          <a:p>
            <a:pPr indent="0" lvl="0" marL="0" rtl="0" algn="l">
              <a:spcBef>
                <a:spcPts val="0"/>
              </a:spcBef>
              <a:spcAft>
                <a:spcPts val="0"/>
              </a:spcAft>
              <a:buNone/>
            </a:pPr>
            <a:r>
              <a:rPr lang="en-US" sz="1200"/>
              <a:t>- Remind them to use only approved sample data.</a:t>
            </a:r>
            <a:endParaRPr/>
          </a:p>
        </p:txBody>
      </p:sp>
      <p:sp>
        <p:nvSpPr>
          <p:cNvPr id="25" name="Google Shape;2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 name="Google Shape;3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Do not oversell it.</a:t>
            </a:r>
            <a:endParaRPr/>
          </a:p>
          <a:p>
            <a:pPr indent="0" lvl="0" marL="0" rtl="0" algn="l">
              <a:spcBef>
                <a:spcPts val="0"/>
              </a:spcBef>
              <a:spcAft>
                <a:spcPts val="0"/>
              </a:spcAft>
              <a:buNone/>
            </a:pPr>
            <a:r>
              <a:rPr lang="en-US" sz="1200"/>
              <a:t>- Say first draft, not final answer.</a:t>
            </a:r>
            <a:endParaRPr/>
          </a:p>
          <a:p>
            <a:pPr indent="0" lvl="0" marL="0" rtl="0" algn="l">
              <a:spcBef>
                <a:spcPts val="0"/>
              </a:spcBef>
              <a:spcAft>
                <a:spcPts val="0"/>
              </a:spcAft>
              <a:buNone/>
            </a:pPr>
            <a:r>
              <a:rPr lang="en-US" sz="1200"/>
              <a:t>- Connect examples to what people wrote in chat.</a:t>
            </a:r>
            <a:endParaRPr/>
          </a:p>
        </p:txBody>
      </p:sp>
      <p:sp>
        <p:nvSpPr>
          <p:cNvPr id="35" name="Google Shape;35;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 name="Google Shape;4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This slide answers safety concerns early.</a:t>
            </a:r>
            <a:endParaRPr/>
          </a:p>
          <a:p>
            <a:pPr indent="0" lvl="0" marL="0" rtl="0" algn="l">
              <a:spcBef>
                <a:spcPts val="0"/>
              </a:spcBef>
              <a:spcAft>
                <a:spcPts val="0"/>
              </a:spcAft>
              <a:buNone/>
            </a:pPr>
            <a:r>
              <a:rPr lang="en-US" sz="1200"/>
              <a:t>- Keep it calm and matter-of-fact.</a:t>
            </a:r>
            <a:endParaRPr/>
          </a:p>
        </p:txBody>
      </p:sp>
      <p:sp>
        <p:nvSpPr>
          <p:cNvPr id="45" name="Google Shape;4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 name="Google Shape;5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Use the meeting packet analogy.</a:t>
            </a:r>
            <a:endParaRPr/>
          </a:p>
          <a:p>
            <a:pPr indent="0" lvl="0" marL="0" rtl="0" algn="l">
              <a:spcBef>
                <a:spcPts val="0"/>
              </a:spcBef>
              <a:spcAft>
                <a:spcPts val="0"/>
              </a:spcAft>
              <a:buNone/>
            </a:pPr>
            <a:r>
              <a:rPr lang="en-US" sz="1200"/>
              <a:t>- Do not get technical unless asked.</a:t>
            </a:r>
            <a:endParaRPr/>
          </a:p>
        </p:txBody>
      </p:sp>
      <p:sp>
        <p:nvSpPr>
          <p:cNvPr id="60" name="Google Shape;60;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Explain cost without dwelling on API pricing.</a:t>
            </a:r>
            <a:endParaRPr/>
          </a:p>
          <a:p>
            <a:pPr indent="0" lvl="0" marL="0" rtl="0" algn="l">
              <a:spcBef>
                <a:spcPts val="0"/>
              </a:spcBef>
              <a:spcAft>
                <a:spcPts val="0"/>
              </a:spcAft>
              <a:buNone/>
            </a:pPr>
            <a:r>
              <a:rPr lang="en-US" sz="1200"/>
              <a:t>- Mention admins may have usage analytics depending on plan setup.</a:t>
            </a:r>
            <a:endParaRPr/>
          </a:p>
        </p:txBody>
      </p:sp>
      <p:sp>
        <p:nvSpPr>
          <p:cNvPr id="84" name="Google Shape;84;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Pause here.</a:t>
            </a:r>
            <a:endParaRPr/>
          </a:p>
          <a:p>
            <a:pPr indent="0" lvl="0" marL="0" rtl="0" algn="l">
              <a:spcBef>
                <a:spcPts val="0"/>
              </a:spcBef>
              <a:spcAft>
                <a:spcPts val="0"/>
              </a:spcAft>
              <a:buNone/>
            </a:pPr>
            <a:r>
              <a:rPr lang="en-US" sz="1200"/>
              <a:t>- Say that </a:t>
            </a:r>
            <a:r>
              <a:rPr lang="en-US"/>
              <a:t>__</a:t>
            </a:r>
            <a:r>
              <a:rPr lang="en-US" sz="1200"/>
              <a:t> policy is the authority.</a:t>
            </a:r>
            <a:endParaRPr/>
          </a:p>
          <a:p>
            <a:pPr indent="0" lvl="0" marL="0" rtl="0" algn="l">
              <a:spcBef>
                <a:spcPts val="0"/>
              </a:spcBef>
              <a:spcAft>
                <a:spcPts val="0"/>
              </a:spcAft>
              <a:buNone/>
            </a:pPr>
            <a:r>
              <a:rPr lang="en-US" sz="1200"/>
              <a:t>- Do not invite exceptions in the live session.</a:t>
            </a:r>
            <a:endParaRPr/>
          </a:p>
        </p:txBody>
      </p:sp>
      <p:sp>
        <p:nvSpPr>
          <p:cNvPr id="124" name="Google Shape;12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Do not over-explain settings.</a:t>
            </a:r>
            <a:endParaRPr/>
          </a:p>
          <a:p>
            <a:pPr indent="0" lvl="0" marL="0" rtl="0" algn="l">
              <a:spcBef>
                <a:spcPts val="0"/>
              </a:spcBef>
              <a:spcAft>
                <a:spcPts val="0"/>
              </a:spcAft>
              <a:buNone/>
            </a:pPr>
            <a:r>
              <a:rPr lang="en-US" sz="1200"/>
              <a:t>- Memory import is optional and should be curated.</a:t>
            </a:r>
            <a:endParaRPr/>
          </a:p>
          <a:p>
            <a:pPr indent="0" lvl="0" marL="0" rtl="0" algn="l">
              <a:spcBef>
                <a:spcPts val="0"/>
              </a:spcBef>
              <a:spcAft>
                <a:spcPts val="0"/>
              </a:spcAft>
              <a:buNone/>
            </a:pPr>
            <a:r>
              <a:rPr lang="en-US" sz="1200"/>
              <a:t>- This helps defaults, but prompts still matter.</a:t>
            </a:r>
            <a:endParaRPr/>
          </a:p>
        </p:txBody>
      </p:sp>
      <p:sp>
        <p:nvSpPr>
          <p:cNvPr id="134" name="Google Shape;134;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Use the new teammate analogy.</a:t>
            </a:r>
            <a:endParaRPr/>
          </a:p>
          <a:p>
            <a:pPr indent="0" lvl="0" marL="0" rtl="0" algn="l">
              <a:spcBef>
                <a:spcPts val="0"/>
              </a:spcBef>
              <a:spcAft>
                <a:spcPts val="0"/>
              </a:spcAft>
              <a:buNone/>
            </a:pPr>
            <a:r>
              <a:rPr lang="en-US" sz="1200"/>
              <a:t>- Tell them this is the core habit.</a:t>
            </a:r>
            <a:endParaRPr/>
          </a:p>
        </p:txBody>
      </p:sp>
      <p:sp>
        <p:nvSpPr>
          <p:cNvPr id="177" name="Google Shape;177;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Give them 2-3 minutes.</a:t>
            </a:r>
            <a:endParaRPr/>
          </a:p>
          <a:p>
            <a:pPr indent="0" lvl="0" marL="0" rtl="0" algn="l">
              <a:spcBef>
                <a:spcPts val="0"/>
              </a:spcBef>
              <a:spcAft>
                <a:spcPts val="0"/>
              </a:spcAft>
              <a:buNone/>
            </a:pPr>
            <a:r>
              <a:rPr lang="en-US" sz="1200"/>
              <a:t>- Ask: what improved?</a:t>
            </a:r>
            <a:endParaRPr/>
          </a:p>
          <a:p>
            <a:pPr indent="0" lvl="0" marL="0" rtl="0" algn="l">
              <a:spcBef>
                <a:spcPts val="0"/>
              </a:spcBef>
              <a:spcAft>
                <a:spcPts val="0"/>
              </a:spcAft>
              <a:buNone/>
            </a:pPr>
            <a:r>
              <a:rPr lang="en-US" sz="1200"/>
              <a:t>- Reinforce: specific beats vague.</a:t>
            </a:r>
            <a:endParaRPr/>
          </a:p>
        </p:txBody>
      </p:sp>
      <p:sp>
        <p:nvSpPr>
          <p:cNvPr id="203" name="Google Shape;20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Keep this broad; do not say program finance.</a:t>
            </a:r>
            <a:endParaRPr/>
          </a:p>
          <a:p>
            <a:pPr indent="0" lvl="0" marL="0" rtl="0" algn="l">
              <a:spcBef>
                <a:spcPts val="0"/>
              </a:spcBef>
              <a:spcAft>
                <a:spcPts val="0"/>
              </a:spcAft>
              <a:buNone/>
            </a:pPr>
            <a:r>
              <a:rPr lang="en-US" sz="1200"/>
              <a:t>- Emphasize facts vs questions.</a:t>
            </a:r>
            <a:endParaRPr/>
          </a:p>
        </p:txBody>
      </p:sp>
      <p:sp>
        <p:nvSpPr>
          <p:cNvPr id="220" name="Google Shape;220;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Give them 3 minutes if time allows.</a:t>
            </a:r>
            <a:endParaRPr/>
          </a:p>
          <a:p>
            <a:pPr indent="0" lvl="0" marL="0" rtl="0" algn="l">
              <a:spcBef>
                <a:spcPts val="0"/>
              </a:spcBef>
              <a:spcAft>
                <a:spcPts val="0"/>
              </a:spcAft>
              <a:buNone/>
            </a:pPr>
            <a:r>
              <a:rPr lang="en-US" sz="1200"/>
              <a:t>- Repeat: approved non-CUI only.</a:t>
            </a:r>
            <a:endParaRPr/>
          </a:p>
        </p:txBody>
      </p:sp>
      <p:sp>
        <p:nvSpPr>
          <p:cNvPr id="260" name="Google Shape;260;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4" name="Google Shape;284;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Keep it practical.</a:t>
            </a:r>
            <a:endParaRPr/>
          </a:p>
          <a:p>
            <a:pPr indent="0" lvl="0" marL="0" rtl="0" algn="l">
              <a:spcBef>
                <a:spcPts val="0"/>
              </a:spcBef>
              <a:spcAft>
                <a:spcPts val="0"/>
              </a:spcAft>
              <a:buNone/>
            </a:pPr>
            <a:r>
              <a:rPr lang="en-US" sz="1200"/>
              <a:t>- Do not over-index on model names.</a:t>
            </a:r>
            <a:endParaRPr/>
          </a:p>
        </p:txBody>
      </p:sp>
      <p:sp>
        <p:nvSpPr>
          <p:cNvPr id="285" name="Google Shape;285;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 name="Google Shape;31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Use the skim/review/deep dive analogy.</a:t>
            </a:r>
            <a:endParaRPr/>
          </a:p>
          <a:p>
            <a:pPr indent="0" lvl="0" marL="0" rtl="0" algn="l">
              <a:spcBef>
                <a:spcPts val="0"/>
              </a:spcBef>
              <a:spcAft>
                <a:spcPts val="0"/>
              </a:spcAft>
              <a:buNone/>
            </a:pPr>
            <a:r>
              <a:rPr lang="en-US" sz="1200"/>
              <a:t>- Mention higher effort is not magic.</a:t>
            </a:r>
            <a:endParaRPr/>
          </a:p>
        </p:txBody>
      </p:sp>
      <p:sp>
        <p:nvSpPr>
          <p:cNvPr id="319" name="Google Shape;319;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Do not go too deep.</a:t>
            </a:r>
            <a:endParaRPr/>
          </a:p>
          <a:p>
            <a:pPr indent="0" lvl="0" marL="0" rtl="0" algn="l">
              <a:spcBef>
                <a:spcPts val="0"/>
              </a:spcBef>
              <a:spcAft>
                <a:spcPts val="0"/>
              </a:spcAft>
              <a:buNone/>
            </a:pPr>
            <a:r>
              <a:rPr lang="en-US" sz="1200"/>
              <a:t>- Set up the demo.</a:t>
            </a:r>
            <a:endParaRPr/>
          </a:p>
        </p:txBody>
      </p:sp>
      <p:sp>
        <p:nvSpPr>
          <p:cNvPr id="359" name="Google Shape;35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0" name="Google Shape;380;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Avoid fanboy language.</a:t>
            </a:r>
            <a:endParaRPr/>
          </a:p>
          <a:p>
            <a:pPr indent="0" lvl="0" marL="0" rtl="0" algn="l">
              <a:spcBef>
                <a:spcPts val="0"/>
              </a:spcBef>
              <a:spcAft>
                <a:spcPts val="0"/>
              </a:spcAft>
              <a:buNone/>
            </a:pPr>
            <a:r>
              <a:rPr lang="en-US" sz="1200"/>
              <a:t>- No absolute claims.</a:t>
            </a:r>
            <a:endParaRPr/>
          </a:p>
          <a:p>
            <a:pPr indent="0" lvl="0" marL="0" rtl="0" algn="l">
              <a:spcBef>
                <a:spcPts val="0"/>
              </a:spcBef>
              <a:spcAft>
                <a:spcPts val="0"/>
              </a:spcAft>
              <a:buNone/>
            </a:pPr>
            <a:r>
              <a:rPr lang="en-US" sz="1200"/>
              <a:t>- Tie back to approved use.</a:t>
            </a:r>
            <a:endParaRPr/>
          </a:p>
        </p:txBody>
      </p:sp>
      <p:sp>
        <p:nvSpPr>
          <p:cNvPr id="381" name="Google Shape;381;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4" name="Google Shape;41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Close warmly.</a:t>
            </a:r>
            <a:endParaRPr/>
          </a:p>
          <a:p>
            <a:pPr indent="0" lvl="0" marL="0" rtl="0" algn="l">
              <a:spcBef>
                <a:spcPts val="0"/>
              </a:spcBef>
              <a:spcAft>
                <a:spcPts val="0"/>
              </a:spcAft>
              <a:buNone/>
            </a:pPr>
            <a:r>
              <a:rPr lang="en-US" sz="1200"/>
              <a:t>- Leave time for questions.</a:t>
            </a:r>
            <a:endParaRPr/>
          </a:p>
          <a:p>
            <a:pPr indent="0" lvl="0" marL="0" rtl="0" algn="l">
              <a:spcBef>
                <a:spcPts val="0"/>
              </a:spcBef>
              <a:spcAft>
                <a:spcPts val="0"/>
              </a:spcAft>
              <a:buNone/>
            </a:pPr>
            <a:r>
              <a:rPr lang="en-US" sz="1200"/>
              <a:t>- Point to appendix if sharing deck afterward.</a:t>
            </a:r>
            <a:endParaRPr/>
          </a:p>
        </p:txBody>
      </p:sp>
      <p:sp>
        <p:nvSpPr>
          <p:cNvPr id="415" name="Google Shape;41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6" name="Google Shape;43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Use only safe sample material.</a:t>
            </a:r>
            <a:endParaRPr/>
          </a:p>
          <a:p>
            <a:pPr indent="0" lvl="0" marL="0" rtl="0" algn="l">
              <a:spcBef>
                <a:spcPts val="0"/>
              </a:spcBef>
              <a:spcAft>
                <a:spcPts val="0"/>
              </a:spcAft>
              <a:buNone/>
            </a:pPr>
            <a:r>
              <a:rPr lang="en-US" sz="1200"/>
              <a:t>- Keep demo under 8 minutes.</a:t>
            </a:r>
            <a:endParaRPr/>
          </a:p>
        </p:txBody>
      </p:sp>
      <p:sp>
        <p:nvSpPr>
          <p:cNvPr id="437" name="Google Shape;437;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2" name="Google Shape;482;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Share this appendix afterward.</a:t>
            </a:r>
            <a:endParaRPr/>
          </a:p>
        </p:txBody>
      </p:sp>
      <p:sp>
        <p:nvSpPr>
          <p:cNvPr id="483" name="Google Shape;483;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4" name="Google Shape;504;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Do not over-answer policy questions.</a:t>
            </a:r>
            <a:endParaRPr/>
          </a:p>
          <a:p>
            <a:pPr indent="0" lvl="0" marL="0" rtl="0" algn="l">
              <a:spcBef>
                <a:spcPts val="0"/>
              </a:spcBef>
              <a:spcAft>
                <a:spcPts val="0"/>
              </a:spcAft>
              <a:buNone/>
            </a:pPr>
            <a:r>
              <a:rPr lang="en-US" sz="1200"/>
              <a:t>- Say what you know; park what needs confirmation.</a:t>
            </a:r>
            <a:endParaRPr/>
          </a:p>
        </p:txBody>
      </p:sp>
      <p:sp>
        <p:nvSpPr>
          <p:cNvPr id="505" name="Google Shape;505;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8" name="Google Shape;538;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Useful draft, human review.</a:t>
            </a:r>
            <a:endParaRPr/>
          </a:p>
          <a:p>
            <a:pPr indent="0" lvl="0" marL="0" rtl="0" algn="l">
              <a:spcBef>
                <a:spcPts val="0"/>
              </a:spcBef>
              <a:spcAft>
                <a:spcPts val="0"/>
              </a:spcAft>
              <a:buNone/>
            </a:pPr>
            <a:r>
              <a:rPr lang="en-US" sz="1200"/>
              <a:t>- Avoid absolute promises.</a:t>
            </a:r>
            <a:endParaRPr/>
          </a:p>
        </p:txBody>
      </p:sp>
      <p:sp>
        <p:nvSpPr>
          <p:cNvPr id="539" name="Google Shape;539;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2" name="Google Shape;572;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 Use this as the source appendix if the deck is shared.</a:t>
            </a:r>
            <a:endParaRPr/>
          </a:p>
        </p:txBody>
      </p:sp>
      <p:sp>
        <p:nvSpPr>
          <p:cNvPr id="573" name="Google Shape;573;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15" name="Shape 15"/>
        <p:cNvGrpSpPr/>
        <p:nvPr/>
      </p:nvGrpSpPr>
      <p:grpSpPr>
        <a:xfrm>
          <a:off x="0" y="0"/>
          <a:ext cx="0" cy="0"/>
          <a:chOff x="0" y="0"/>
          <a:chExt cx="0" cy="0"/>
        </a:xfrm>
      </p:grpSpPr>
      <p:sp>
        <p:nvSpPr>
          <p:cNvPr id="16" name="Google Shape;16;p3"/>
          <p:cNvSpPr/>
          <p:nvPr/>
        </p:nvSpPr>
        <p:spPr>
          <a:xfrm>
            <a:off x="704850" y="1600200"/>
            <a:ext cx="7524750" cy="8382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4350">
                <a:solidFill>
                  <a:srgbClr val="17202A"/>
                </a:solidFill>
                <a:latin typeface="Arial"/>
                <a:ea typeface="Arial"/>
                <a:cs typeface="Arial"/>
                <a:sym typeface="Arial"/>
              </a:rPr>
              <a:t>Claude</a:t>
            </a:r>
            <a:endParaRPr/>
          </a:p>
        </p:txBody>
      </p:sp>
      <p:sp>
        <p:nvSpPr>
          <p:cNvPr id="17" name="Google Shape;17;p3"/>
          <p:cNvSpPr/>
          <p:nvPr/>
        </p:nvSpPr>
        <p:spPr>
          <a:xfrm>
            <a:off x="704850" y="2638425"/>
            <a:ext cx="152400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704850" y="3028950"/>
            <a:ext cx="7429500" cy="7429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a:p>
        </p:txBody>
      </p:sp>
      <p:sp>
        <p:nvSpPr>
          <p:cNvPr id="19" name="Google Shape;19;p3"/>
          <p:cNvSpPr/>
          <p:nvPr/>
        </p:nvSpPr>
        <p:spPr>
          <a:xfrm>
            <a:off x="704850" y="4953000"/>
            <a:ext cx="3429000" cy="304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16665A"/>
                </a:solidFill>
                <a:latin typeface="Arial"/>
                <a:ea typeface="Arial"/>
                <a:cs typeface="Arial"/>
                <a:sym typeface="Arial"/>
              </a:rPr>
              <a:t>July 1 | hands-on session</a:t>
            </a:r>
            <a:endParaRPr/>
          </a:p>
        </p:txBody>
      </p:sp>
      <p:sp>
        <p:nvSpPr>
          <p:cNvPr id="20" name="Google Shape;20;p3"/>
          <p:cNvSpPr/>
          <p:nvPr/>
        </p:nvSpPr>
        <p:spPr>
          <a:xfrm>
            <a:off x="8572500" y="1581150"/>
            <a:ext cx="2381250" cy="19050"/>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8572500" y="1924050"/>
            <a:ext cx="2381250" cy="11430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26" name="Shape 26"/>
        <p:cNvGrpSpPr/>
        <p:nvPr/>
      </p:nvGrpSpPr>
      <p:grpSpPr>
        <a:xfrm>
          <a:off x="0" y="0"/>
          <a:ext cx="0" cy="0"/>
          <a:chOff x="0" y="0"/>
          <a:chExt cx="0" cy="0"/>
        </a:xfrm>
      </p:grpSpPr>
      <p:sp>
        <p:nvSpPr>
          <p:cNvPr id="27" name="Google Shape;27;p4"/>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AGENDA</a:t>
            </a:r>
            <a:endParaRPr/>
          </a:p>
        </p:txBody>
      </p:sp>
      <p:sp>
        <p:nvSpPr>
          <p:cNvPr id="28" name="Google Shape;28;p4"/>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Agenda</a:t>
            </a:r>
            <a:endParaRPr/>
          </a:p>
        </p:txBody>
      </p:sp>
      <p:sp>
        <p:nvSpPr>
          <p:cNvPr id="29" name="Google Shape;29;p4"/>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02</a:t>
            </a:r>
            <a:endParaRPr/>
          </a:p>
        </p:txBody>
      </p:sp>
      <p:sp>
        <p:nvSpPr>
          <p:cNvPr id="31" name="Google Shape;31;p4"/>
          <p:cNvSpPr/>
          <p:nvPr/>
        </p:nvSpPr>
        <p:spPr>
          <a:xfrm>
            <a:off x="990600" y="1790700"/>
            <a:ext cx="8572500" cy="34290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950">
                <a:solidFill>
                  <a:srgbClr val="17202A"/>
                </a:solidFill>
                <a:latin typeface="Arial"/>
                <a:ea typeface="Arial"/>
                <a:cs typeface="Arial"/>
                <a:sym typeface="Arial"/>
              </a:rPr>
              <a:t>• Claude basics</a:t>
            </a:r>
            <a:endParaRPr/>
          </a:p>
          <a:p>
            <a:pPr indent="0" lvl="0" marL="0" marR="0" rtl="0" algn="l">
              <a:spcBef>
                <a:spcPts val="0"/>
              </a:spcBef>
              <a:spcAft>
                <a:spcPts val="0"/>
              </a:spcAft>
              <a:buNone/>
            </a:pPr>
            <a:r>
              <a:rPr b="0" lang="en-US" sz="1950">
                <a:solidFill>
                  <a:srgbClr val="17202A"/>
                </a:solidFill>
                <a:latin typeface="Arial"/>
                <a:ea typeface="Arial"/>
                <a:cs typeface="Arial"/>
                <a:sym typeface="Arial"/>
              </a:rPr>
              <a:t>• Prompting techniques</a:t>
            </a:r>
            <a:endParaRPr/>
          </a:p>
          <a:p>
            <a:pPr indent="0" lvl="0" marL="0" marR="0" rtl="0" algn="l">
              <a:spcBef>
                <a:spcPts val="0"/>
              </a:spcBef>
              <a:spcAft>
                <a:spcPts val="0"/>
              </a:spcAft>
              <a:buNone/>
            </a:pPr>
            <a:r>
              <a:rPr b="0" lang="en-US" sz="1950">
                <a:solidFill>
                  <a:srgbClr val="17202A"/>
                </a:solidFill>
                <a:latin typeface="Arial"/>
                <a:ea typeface="Arial"/>
                <a:cs typeface="Arial"/>
                <a:sym typeface="Arial"/>
              </a:rPr>
              <a:t>• Hands-on prompt practice</a:t>
            </a:r>
            <a:endParaRPr/>
          </a:p>
          <a:p>
            <a:pPr indent="0" lvl="0" marL="0" marR="0" rtl="0" algn="l">
              <a:spcBef>
                <a:spcPts val="0"/>
              </a:spcBef>
              <a:spcAft>
                <a:spcPts val="0"/>
              </a:spcAft>
              <a:buNone/>
            </a:pPr>
            <a:r>
              <a:rPr b="0" lang="en-US" sz="1950">
                <a:solidFill>
                  <a:srgbClr val="17202A"/>
                </a:solidFill>
                <a:latin typeface="Arial"/>
                <a:ea typeface="Arial"/>
                <a:cs typeface="Arial"/>
                <a:sym typeface="Arial"/>
              </a:rPr>
              <a:t>• Document Q&amp;A</a:t>
            </a:r>
            <a:endParaRPr/>
          </a:p>
          <a:p>
            <a:pPr indent="0" lvl="0" marL="0" marR="0" rtl="0" algn="l">
              <a:spcBef>
                <a:spcPts val="0"/>
              </a:spcBef>
              <a:spcAft>
                <a:spcPts val="0"/>
              </a:spcAft>
              <a:buNone/>
            </a:pPr>
            <a:r>
              <a:rPr b="0" lang="en-US" sz="1950">
                <a:solidFill>
                  <a:srgbClr val="17202A"/>
                </a:solidFill>
                <a:latin typeface="Arial"/>
                <a:ea typeface="Arial"/>
                <a:cs typeface="Arial"/>
                <a:sym typeface="Arial"/>
              </a:rPr>
              <a:t>• Models, effort, Projects, and Skills</a:t>
            </a:r>
            <a:endParaRPr/>
          </a:p>
          <a:p>
            <a:pPr indent="0" lvl="0" marL="0" marR="0" rtl="0" algn="l">
              <a:spcBef>
                <a:spcPts val="0"/>
              </a:spcBef>
              <a:spcAft>
                <a:spcPts val="0"/>
              </a:spcAft>
              <a:buNone/>
            </a:pPr>
            <a:r>
              <a:rPr b="0" lang="en-US" sz="1950">
                <a:solidFill>
                  <a:srgbClr val="17202A"/>
                </a:solidFill>
                <a:latin typeface="Arial"/>
                <a:ea typeface="Arial"/>
                <a:cs typeface="Arial"/>
                <a:sym typeface="Arial"/>
              </a:rPr>
              <a:t>• Data rules and review habits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36" name="Shape 36"/>
        <p:cNvGrpSpPr/>
        <p:nvPr/>
      </p:nvGrpSpPr>
      <p:grpSpPr>
        <a:xfrm>
          <a:off x="0" y="0"/>
          <a:ext cx="0" cy="0"/>
          <a:chOff x="0" y="0"/>
          <a:chExt cx="0" cy="0"/>
        </a:xfrm>
      </p:grpSpPr>
      <p:sp>
        <p:nvSpPr>
          <p:cNvPr id="37" name="Google Shape;37;p5"/>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USE CASES</a:t>
            </a:r>
            <a:endParaRPr/>
          </a:p>
        </p:txBody>
      </p:sp>
      <p:sp>
        <p:nvSpPr>
          <p:cNvPr id="38" name="Google Shape;38;p5"/>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Use Cases</a:t>
            </a:r>
            <a:endParaRPr/>
          </a:p>
        </p:txBody>
      </p:sp>
      <p:sp>
        <p:nvSpPr>
          <p:cNvPr id="39" name="Google Shape;39;p5"/>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03</a:t>
            </a:r>
            <a:endParaRPr/>
          </a:p>
        </p:txBody>
      </p:sp>
      <p:sp>
        <p:nvSpPr>
          <p:cNvPr id="41" name="Google Shape;41;p5"/>
          <p:cNvSpPr/>
          <p:nvPr/>
        </p:nvSpPr>
        <p:spPr>
          <a:xfrm>
            <a:off x="1009650" y="1790700"/>
            <a:ext cx="9144000" cy="3333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17202A"/>
                </a:solidFill>
                <a:latin typeface="Arial"/>
                <a:ea typeface="Arial"/>
                <a:cs typeface="Arial"/>
                <a:sym typeface="Arial"/>
              </a:rPr>
              <a:t>• Summarize approved documents.</a:t>
            </a:r>
            <a:endParaRPr/>
          </a:p>
          <a:p>
            <a:pPr indent="0" lvl="0" marL="0" marR="0" rtl="0" algn="l">
              <a:spcBef>
                <a:spcPts val="0"/>
              </a:spcBef>
              <a:spcAft>
                <a:spcPts val="0"/>
              </a:spcAft>
              <a:buNone/>
            </a:pPr>
            <a:r>
              <a:rPr b="0" lang="en-US" sz="1875">
                <a:solidFill>
                  <a:srgbClr val="17202A"/>
                </a:solidFill>
                <a:latin typeface="Arial"/>
                <a:ea typeface="Arial"/>
                <a:cs typeface="Arial"/>
                <a:sym typeface="Arial"/>
              </a:rPr>
              <a:t>• Ask questions about uploaded files.</a:t>
            </a:r>
            <a:endParaRPr/>
          </a:p>
          <a:p>
            <a:pPr indent="0" lvl="0" marL="0" marR="0" rtl="0" algn="l">
              <a:spcBef>
                <a:spcPts val="0"/>
              </a:spcBef>
              <a:spcAft>
                <a:spcPts val="0"/>
              </a:spcAft>
              <a:buNone/>
            </a:pPr>
            <a:r>
              <a:rPr b="0" lang="en-US" sz="1875">
                <a:solidFill>
                  <a:srgbClr val="17202A"/>
                </a:solidFill>
                <a:latin typeface="Arial"/>
                <a:ea typeface="Arial"/>
                <a:cs typeface="Arial"/>
                <a:sym typeface="Arial"/>
              </a:rPr>
              <a:t>• Draft business review narratives.</a:t>
            </a:r>
            <a:endParaRPr/>
          </a:p>
          <a:p>
            <a:pPr indent="0" lvl="0" marL="0" marR="0" rtl="0" algn="l">
              <a:spcBef>
                <a:spcPts val="0"/>
              </a:spcBef>
              <a:spcAft>
                <a:spcPts val="0"/>
              </a:spcAft>
              <a:buNone/>
            </a:pPr>
            <a:r>
              <a:rPr b="0" lang="en-US" sz="1875">
                <a:solidFill>
                  <a:srgbClr val="17202A"/>
                </a:solidFill>
                <a:latin typeface="Arial"/>
                <a:ea typeface="Arial"/>
                <a:cs typeface="Arial"/>
                <a:sym typeface="Arial"/>
              </a:rPr>
              <a:t>• Turn rough notes into clean bullets.</a:t>
            </a:r>
            <a:endParaRPr/>
          </a:p>
          <a:p>
            <a:pPr indent="0" lvl="0" marL="0" marR="0" rtl="0" algn="l">
              <a:spcBef>
                <a:spcPts val="0"/>
              </a:spcBef>
              <a:spcAft>
                <a:spcPts val="0"/>
              </a:spcAft>
              <a:buNone/>
            </a:pPr>
            <a:r>
              <a:rPr b="0" lang="en-US" sz="1875">
                <a:solidFill>
                  <a:srgbClr val="17202A"/>
                </a:solidFill>
                <a:latin typeface="Arial"/>
                <a:ea typeface="Arial"/>
                <a:cs typeface="Arial"/>
                <a:sym typeface="Arial"/>
              </a:rPr>
              <a:t>• Create follow-up questions.</a:t>
            </a:r>
            <a:endParaRPr/>
          </a:p>
          <a:p>
            <a:pPr indent="0" lvl="0" marL="0" marR="0" rtl="0" algn="l">
              <a:spcBef>
                <a:spcPts val="0"/>
              </a:spcBef>
              <a:spcAft>
                <a:spcPts val="0"/>
              </a:spcAft>
              <a:buNone/>
            </a:pPr>
            <a:r>
              <a:rPr b="0" lang="en-US" sz="1875">
                <a:solidFill>
                  <a:srgbClr val="17202A"/>
                </a:solidFill>
                <a:latin typeface="Arial"/>
                <a:ea typeface="Arial"/>
                <a:cs typeface="Arial"/>
                <a:sym typeface="Arial"/>
              </a:rPr>
              <a:t>• Clean up chart or table explanations.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46" name="Shape 46"/>
        <p:cNvGrpSpPr/>
        <p:nvPr/>
      </p:nvGrpSpPr>
      <p:grpSpPr>
        <a:xfrm>
          <a:off x="0" y="0"/>
          <a:ext cx="0" cy="0"/>
          <a:chOff x="0" y="0"/>
          <a:chExt cx="0" cy="0"/>
        </a:xfrm>
      </p:grpSpPr>
      <p:sp>
        <p:nvSpPr>
          <p:cNvPr id="47" name="Google Shape;47;p6"/>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LIMITS</a:t>
            </a:r>
            <a:endParaRPr/>
          </a:p>
        </p:txBody>
      </p:sp>
      <p:sp>
        <p:nvSpPr>
          <p:cNvPr id="48" name="Google Shape;48;p6"/>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Limitations</a:t>
            </a:r>
            <a:endParaRPr/>
          </a:p>
        </p:txBody>
      </p:sp>
      <p:sp>
        <p:nvSpPr>
          <p:cNvPr id="49" name="Google Shape;49;p6"/>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6"/>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04</a:t>
            </a:r>
            <a:endParaRPr/>
          </a:p>
        </p:txBody>
      </p:sp>
      <p:sp>
        <p:nvSpPr>
          <p:cNvPr id="51" name="Google Shape;51;p6"/>
          <p:cNvSpPr/>
          <p:nvPr/>
        </p:nvSpPr>
        <p:spPr>
          <a:xfrm>
            <a:off x="704850" y="1657350"/>
            <a:ext cx="5200650" cy="39052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6"/>
          <p:cNvSpPr/>
          <p:nvPr/>
        </p:nvSpPr>
        <p:spPr>
          <a:xfrm>
            <a:off x="990600" y="1962150"/>
            <a:ext cx="4000500" cy="304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6665A"/>
                </a:solidFill>
                <a:latin typeface="Arial"/>
                <a:ea typeface="Arial"/>
                <a:cs typeface="Arial"/>
                <a:sym typeface="Arial"/>
              </a:rPr>
              <a:t>Good fit</a:t>
            </a:r>
            <a:endParaRPr/>
          </a:p>
        </p:txBody>
      </p:sp>
      <p:sp>
        <p:nvSpPr>
          <p:cNvPr id="53" name="Google Shape;53;p6"/>
          <p:cNvSpPr/>
          <p:nvPr/>
        </p:nvSpPr>
        <p:spPr>
          <a:xfrm>
            <a:off x="990600" y="2457450"/>
            <a:ext cx="4381500" cy="2571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17202A"/>
                </a:solidFill>
                <a:latin typeface="Arial"/>
                <a:ea typeface="Arial"/>
                <a:cs typeface="Arial"/>
                <a:sym typeface="Arial"/>
              </a:rPr>
              <a:t>• Drafting</a:t>
            </a:r>
            <a:endParaRPr/>
          </a:p>
          <a:p>
            <a:pPr indent="0" lvl="0" marL="0" marR="0" rtl="0" algn="l">
              <a:spcBef>
                <a:spcPts val="0"/>
              </a:spcBef>
              <a:spcAft>
                <a:spcPts val="0"/>
              </a:spcAft>
              <a:buNone/>
            </a:pPr>
            <a:r>
              <a:rPr b="0" lang="en-US" sz="1650">
                <a:solidFill>
                  <a:srgbClr val="17202A"/>
                </a:solidFill>
                <a:latin typeface="Arial"/>
                <a:ea typeface="Arial"/>
                <a:cs typeface="Arial"/>
                <a:sym typeface="Arial"/>
              </a:rPr>
              <a:t>  - summaries</a:t>
            </a:r>
            <a:endParaRPr/>
          </a:p>
          <a:p>
            <a:pPr indent="0" lvl="0" marL="0" marR="0" rtl="0" algn="l">
              <a:spcBef>
                <a:spcPts val="0"/>
              </a:spcBef>
              <a:spcAft>
                <a:spcPts val="0"/>
              </a:spcAft>
              <a:buNone/>
            </a:pPr>
            <a:r>
              <a:rPr b="0" lang="en-US" sz="1650">
                <a:solidFill>
                  <a:srgbClr val="17202A"/>
                </a:solidFill>
                <a:latin typeface="Arial"/>
                <a:ea typeface="Arial"/>
                <a:cs typeface="Arial"/>
                <a:sym typeface="Arial"/>
              </a:rPr>
              <a:t>  - emails</a:t>
            </a:r>
            <a:endParaRPr/>
          </a:p>
          <a:p>
            <a:pPr indent="0" lvl="0" marL="0" marR="0" rtl="0" algn="l">
              <a:spcBef>
                <a:spcPts val="0"/>
              </a:spcBef>
              <a:spcAft>
                <a:spcPts val="0"/>
              </a:spcAft>
              <a:buNone/>
            </a:pPr>
            <a:r>
              <a:rPr b="0" lang="en-US" sz="1650">
                <a:solidFill>
                  <a:srgbClr val="17202A"/>
                </a:solidFill>
                <a:latin typeface="Arial"/>
                <a:ea typeface="Arial"/>
                <a:cs typeface="Arial"/>
                <a:sym typeface="Arial"/>
              </a:rPr>
              <a:t>  - talking points</a:t>
            </a:r>
            <a:endParaRPr/>
          </a:p>
          <a:p>
            <a:pPr indent="0" lvl="0" marL="0" marR="0" rtl="0" algn="l">
              <a:spcBef>
                <a:spcPts val="0"/>
              </a:spcBef>
              <a:spcAft>
                <a:spcPts val="0"/>
              </a:spcAft>
              <a:buNone/>
            </a:pPr>
            <a:r>
              <a:t/>
            </a:r>
            <a:endParaRPr b="0" sz="1650">
              <a:solidFill>
                <a:srgbClr val="17202A"/>
              </a:solidFill>
              <a:latin typeface="Arial"/>
              <a:ea typeface="Arial"/>
              <a:cs typeface="Arial"/>
              <a:sym typeface="Arial"/>
            </a:endParaRPr>
          </a:p>
          <a:p>
            <a:pPr indent="0" lvl="0" marL="0" marR="0" rtl="0" algn="l">
              <a:spcBef>
                <a:spcPts val="0"/>
              </a:spcBef>
              <a:spcAft>
                <a:spcPts val="0"/>
              </a:spcAft>
              <a:buNone/>
            </a:pPr>
            <a:r>
              <a:rPr b="0" lang="en-US" sz="1650">
                <a:solidFill>
                  <a:srgbClr val="17202A"/>
                </a:solidFill>
                <a:latin typeface="Arial"/>
                <a:ea typeface="Arial"/>
                <a:cs typeface="Arial"/>
                <a:sym typeface="Arial"/>
              </a:rPr>
              <a:t>• Organizing</a:t>
            </a:r>
            <a:endParaRPr/>
          </a:p>
          <a:p>
            <a:pPr indent="0" lvl="0" marL="0" marR="0" rtl="0" algn="l">
              <a:spcBef>
                <a:spcPts val="0"/>
              </a:spcBef>
              <a:spcAft>
                <a:spcPts val="0"/>
              </a:spcAft>
              <a:buNone/>
            </a:pPr>
            <a:r>
              <a:rPr b="0" lang="en-US" sz="1650">
                <a:solidFill>
                  <a:srgbClr val="17202A"/>
                </a:solidFill>
                <a:latin typeface="Arial"/>
                <a:ea typeface="Arial"/>
                <a:cs typeface="Arial"/>
                <a:sym typeface="Arial"/>
              </a:rPr>
              <a:t>  - rough notes</a:t>
            </a:r>
            <a:endParaRPr/>
          </a:p>
          <a:p>
            <a:pPr indent="0" lvl="0" marL="0" marR="0" rtl="0" algn="l">
              <a:spcBef>
                <a:spcPts val="0"/>
              </a:spcBef>
              <a:spcAft>
                <a:spcPts val="0"/>
              </a:spcAft>
              <a:buNone/>
            </a:pPr>
            <a:r>
              <a:rPr b="0" lang="en-US" sz="1650">
                <a:solidFill>
                  <a:srgbClr val="17202A"/>
                </a:solidFill>
                <a:latin typeface="Arial"/>
                <a:ea typeface="Arial"/>
                <a:cs typeface="Arial"/>
                <a:sym typeface="Arial"/>
              </a:rPr>
              <a:t>  - action items</a:t>
            </a:r>
            <a:endParaRPr/>
          </a:p>
          <a:p>
            <a:pPr indent="0" lvl="0" marL="0" marR="0" rtl="0" algn="l">
              <a:spcBef>
                <a:spcPts val="0"/>
              </a:spcBef>
              <a:spcAft>
                <a:spcPts val="0"/>
              </a:spcAft>
              <a:buNone/>
            </a:pPr>
            <a:r>
              <a:rPr b="0" lang="en-US" sz="1650">
                <a:solidFill>
                  <a:srgbClr val="17202A"/>
                </a:solidFill>
                <a:latin typeface="Arial"/>
                <a:ea typeface="Arial"/>
                <a:cs typeface="Arial"/>
                <a:sym typeface="Arial"/>
              </a:rPr>
              <a:t>  - follow-up questions</a:t>
            </a:r>
            <a:endParaRPr/>
          </a:p>
        </p:txBody>
      </p:sp>
      <p:sp>
        <p:nvSpPr>
          <p:cNvPr id="54" name="Google Shape;54;p6"/>
          <p:cNvSpPr/>
          <p:nvPr/>
        </p:nvSpPr>
        <p:spPr>
          <a:xfrm>
            <a:off x="6286500" y="1657350"/>
            <a:ext cx="5200650" cy="39052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6"/>
          <p:cNvSpPr/>
          <p:nvPr/>
        </p:nvSpPr>
        <p:spPr>
          <a:xfrm>
            <a:off x="6572250" y="1962150"/>
            <a:ext cx="4000500" cy="304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9B3A37"/>
                </a:solidFill>
                <a:latin typeface="Arial"/>
                <a:ea typeface="Arial"/>
                <a:cs typeface="Arial"/>
                <a:sym typeface="Arial"/>
              </a:rPr>
              <a:t>Not enough by itself</a:t>
            </a:r>
            <a:endParaRPr/>
          </a:p>
        </p:txBody>
      </p:sp>
      <p:sp>
        <p:nvSpPr>
          <p:cNvPr id="56" name="Google Shape;56;p6"/>
          <p:cNvSpPr/>
          <p:nvPr/>
        </p:nvSpPr>
        <p:spPr>
          <a:xfrm>
            <a:off x="6572250" y="2457450"/>
            <a:ext cx="4381500" cy="2571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17202A"/>
                </a:solidFill>
                <a:latin typeface="Arial"/>
                <a:ea typeface="Arial"/>
                <a:cs typeface="Arial"/>
                <a:sym typeface="Arial"/>
              </a:rPr>
              <a:t>• Final decisions</a:t>
            </a:r>
            <a:endParaRPr/>
          </a:p>
          <a:p>
            <a:pPr indent="0" lvl="0" marL="0" marR="0" rtl="0" algn="l">
              <a:spcBef>
                <a:spcPts val="0"/>
              </a:spcBef>
              <a:spcAft>
                <a:spcPts val="0"/>
              </a:spcAft>
              <a:buNone/>
            </a:pPr>
            <a:r>
              <a:rPr b="0" lang="en-US" sz="1650">
                <a:solidFill>
                  <a:srgbClr val="17202A"/>
                </a:solidFill>
                <a:latin typeface="Arial"/>
                <a:ea typeface="Arial"/>
                <a:cs typeface="Arial"/>
                <a:sym typeface="Arial"/>
              </a:rPr>
              <a:t>  - approvals</a:t>
            </a:r>
            <a:endParaRPr/>
          </a:p>
          <a:p>
            <a:pPr indent="0" lvl="0" marL="0" marR="0" rtl="0" algn="l">
              <a:spcBef>
                <a:spcPts val="0"/>
              </a:spcBef>
              <a:spcAft>
                <a:spcPts val="0"/>
              </a:spcAft>
              <a:buNone/>
            </a:pPr>
            <a:r>
              <a:rPr b="0" lang="en-US" sz="1650">
                <a:solidFill>
                  <a:srgbClr val="17202A"/>
                </a:solidFill>
                <a:latin typeface="Arial"/>
                <a:ea typeface="Arial"/>
                <a:cs typeface="Arial"/>
                <a:sym typeface="Arial"/>
              </a:rPr>
              <a:t>  - commitments</a:t>
            </a:r>
            <a:endParaRPr/>
          </a:p>
          <a:p>
            <a:pPr indent="0" lvl="0" marL="0" marR="0" rtl="0" algn="l">
              <a:spcBef>
                <a:spcPts val="0"/>
              </a:spcBef>
              <a:spcAft>
                <a:spcPts val="0"/>
              </a:spcAft>
              <a:buNone/>
            </a:pPr>
            <a:r>
              <a:rPr b="0" lang="en-US" sz="1650">
                <a:solidFill>
                  <a:srgbClr val="17202A"/>
                </a:solidFill>
                <a:latin typeface="Arial"/>
                <a:ea typeface="Arial"/>
                <a:cs typeface="Arial"/>
                <a:sym typeface="Arial"/>
              </a:rPr>
              <a:t>  - policy calls</a:t>
            </a:r>
            <a:endParaRPr/>
          </a:p>
          <a:p>
            <a:pPr indent="0" lvl="0" marL="0" marR="0" rtl="0" algn="l">
              <a:spcBef>
                <a:spcPts val="0"/>
              </a:spcBef>
              <a:spcAft>
                <a:spcPts val="0"/>
              </a:spcAft>
              <a:buNone/>
            </a:pPr>
            <a:r>
              <a:t/>
            </a:r>
            <a:endParaRPr b="0" sz="1650">
              <a:solidFill>
                <a:srgbClr val="17202A"/>
              </a:solidFill>
              <a:latin typeface="Arial"/>
              <a:ea typeface="Arial"/>
              <a:cs typeface="Arial"/>
              <a:sym typeface="Arial"/>
            </a:endParaRPr>
          </a:p>
          <a:p>
            <a:pPr indent="0" lvl="0" marL="0" marR="0" rtl="0" algn="l">
              <a:spcBef>
                <a:spcPts val="0"/>
              </a:spcBef>
              <a:spcAft>
                <a:spcPts val="0"/>
              </a:spcAft>
              <a:buNone/>
            </a:pPr>
            <a:r>
              <a:rPr b="0" lang="en-US" sz="1650">
                <a:solidFill>
                  <a:srgbClr val="17202A"/>
                </a:solidFill>
                <a:latin typeface="Arial"/>
                <a:ea typeface="Arial"/>
                <a:cs typeface="Arial"/>
                <a:sym typeface="Arial"/>
              </a:rPr>
              <a:t>• Final numbers</a:t>
            </a:r>
            <a:endParaRPr/>
          </a:p>
          <a:p>
            <a:pPr indent="0" lvl="0" marL="0" marR="0" rtl="0" algn="l">
              <a:spcBef>
                <a:spcPts val="0"/>
              </a:spcBef>
              <a:spcAft>
                <a:spcPts val="0"/>
              </a:spcAft>
              <a:buNone/>
            </a:pPr>
            <a:r>
              <a:rPr b="0" lang="en-US" sz="1650">
                <a:solidFill>
                  <a:srgbClr val="17202A"/>
                </a:solidFill>
                <a:latin typeface="Arial"/>
                <a:ea typeface="Arial"/>
                <a:cs typeface="Arial"/>
                <a:sym typeface="Arial"/>
              </a:rPr>
              <a:t>  - calculations</a:t>
            </a:r>
            <a:endParaRPr/>
          </a:p>
          <a:p>
            <a:pPr indent="0" lvl="0" marL="0" marR="0" rtl="0" algn="l">
              <a:spcBef>
                <a:spcPts val="0"/>
              </a:spcBef>
              <a:spcAft>
                <a:spcPts val="0"/>
              </a:spcAft>
              <a:buNone/>
            </a:pPr>
            <a:r>
              <a:rPr b="0" lang="en-US" sz="1650">
                <a:solidFill>
                  <a:srgbClr val="17202A"/>
                </a:solidFill>
                <a:latin typeface="Arial"/>
                <a:ea typeface="Arial"/>
                <a:cs typeface="Arial"/>
                <a:sym typeface="Arial"/>
              </a:rPr>
              <a:t>  - citations</a:t>
            </a:r>
            <a:endParaRPr/>
          </a:p>
          <a:p>
            <a:pPr indent="0" lvl="0" marL="0" marR="0" rtl="0" algn="l">
              <a:spcBef>
                <a:spcPts val="0"/>
              </a:spcBef>
              <a:spcAft>
                <a:spcPts val="0"/>
              </a:spcAft>
              <a:buNone/>
            </a:pPr>
            <a:r>
              <a:rPr b="0" lang="en-US" sz="1650">
                <a:solidFill>
                  <a:srgbClr val="17202A"/>
                </a:solidFill>
                <a:latin typeface="Arial"/>
                <a:ea typeface="Arial"/>
                <a:cs typeface="Arial"/>
                <a:sym typeface="Arial"/>
              </a:rPr>
              <a:t>  - customer-facing language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61" name="Shape 61"/>
        <p:cNvGrpSpPr/>
        <p:nvPr/>
      </p:nvGrpSpPr>
      <p:grpSpPr>
        <a:xfrm>
          <a:off x="0" y="0"/>
          <a:ext cx="0" cy="0"/>
          <a:chOff x="0" y="0"/>
          <a:chExt cx="0" cy="0"/>
        </a:xfrm>
      </p:grpSpPr>
      <p:sp>
        <p:nvSpPr>
          <p:cNvPr id="62" name="Google Shape;62;p7"/>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BASICS</a:t>
            </a:r>
            <a:endParaRPr/>
          </a:p>
        </p:txBody>
      </p:sp>
      <p:sp>
        <p:nvSpPr>
          <p:cNvPr id="63" name="Google Shape;63;p7"/>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LLM Basics</a:t>
            </a:r>
            <a:endParaRPr/>
          </a:p>
        </p:txBody>
      </p:sp>
      <p:sp>
        <p:nvSpPr>
          <p:cNvPr id="64" name="Google Shape;64;p7"/>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05</a:t>
            </a:r>
            <a:endParaRPr/>
          </a:p>
        </p:txBody>
      </p:sp>
      <p:sp>
        <p:nvSpPr>
          <p:cNvPr id="66" name="Google Shape;66;p7"/>
          <p:cNvSpPr/>
          <p:nvPr/>
        </p:nvSpPr>
        <p:spPr>
          <a:xfrm>
            <a:off x="704850" y="1733550"/>
            <a:ext cx="3454400" cy="21145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7"/>
          <p:cNvSpPr/>
          <p:nvPr/>
        </p:nvSpPr>
        <p:spPr>
          <a:xfrm>
            <a:off x="895350" y="1905000"/>
            <a:ext cx="30734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CONTEXT</a:t>
            </a:r>
            <a:endParaRPr/>
          </a:p>
        </p:txBody>
      </p:sp>
      <p:sp>
        <p:nvSpPr>
          <p:cNvPr id="68" name="Google Shape;68;p7"/>
          <p:cNvSpPr/>
          <p:nvPr/>
        </p:nvSpPr>
        <p:spPr>
          <a:xfrm>
            <a:off x="895350" y="2162175"/>
            <a:ext cx="3073400"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Working memory</a:t>
            </a:r>
            <a:endParaRPr/>
          </a:p>
        </p:txBody>
      </p:sp>
      <p:sp>
        <p:nvSpPr>
          <p:cNvPr id="69" name="Google Shape;69;p7"/>
          <p:cNvSpPr/>
          <p:nvPr/>
        </p:nvSpPr>
        <p:spPr>
          <a:xfrm>
            <a:off x="895350" y="2609850"/>
            <a:ext cx="3073400" cy="1047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Claude can only use what is in the current conversation, uploaded material, or connected sources.</a:t>
            </a:r>
            <a:endParaRPr/>
          </a:p>
        </p:txBody>
      </p:sp>
      <p:sp>
        <p:nvSpPr>
          <p:cNvPr id="70" name="Google Shape;70;p7"/>
          <p:cNvSpPr/>
          <p:nvPr/>
        </p:nvSpPr>
        <p:spPr>
          <a:xfrm>
            <a:off x="4368800" y="1733550"/>
            <a:ext cx="3454400" cy="21145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7"/>
          <p:cNvSpPr/>
          <p:nvPr/>
        </p:nvSpPr>
        <p:spPr>
          <a:xfrm>
            <a:off x="4559300" y="1905000"/>
            <a:ext cx="30734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TOKENS</a:t>
            </a:r>
            <a:endParaRPr/>
          </a:p>
        </p:txBody>
      </p:sp>
      <p:sp>
        <p:nvSpPr>
          <p:cNvPr id="72" name="Google Shape;72;p7"/>
          <p:cNvSpPr/>
          <p:nvPr/>
        </p:nvSpPr>
        <p:spPr>
          <a:xfrm>
            <a:off x="4559300" y="2162175"/>
            <a:ext cx="3073400"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Pieces of text</a:t>
            </a:r>
            <a:endParaRPr/>
          </a:p>
        </p:txBody>
      </p:sp>
      <p:sp>
        <p:nvSpPr>
          <p:cNvPr id="73" name="Google Shape;73;p7"/>
          <p:cNvSpPr/>
          <p:nvPr/>
        </p:nvSpPr>
        <p:spPr>
          <a:xfrm>
            <a:off x="4559300" y="2609850"/>
            <a:ext cx="3073400" cy="1047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Tokens are the pieces Claude reads and writes. More material means more tokens.</a:t>
            </a:r>
            <a:endParaRPr/>
          </a:p>
        </p:txBody>
      </p:sp>
      <p:sp>
        <p:nvSpPr>
          <p:cNvPr id="74" name="Google Shape;74;p7"/>
          <p:cNvSpPr/>
          <p:nvPr/>
        </p:nvSpPr>
        <p:spPr>
          <a:xfrm>
            <a:off x="8032750" y="1733550"/>
            <a:ext cx="3454400" cy="21145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7"/>
          <p:cNvSpPr/>
          <p:nvPr/>
        </p:nvSpPr>
        <p:spPr>
          <a:xfrm>
            <a:off x="8223250" y="1905000"/>
            <a:ext cx="30734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LIMITS</a:t>
            </a:r>
            <a:endParaRPr/>
          </a:p>
        </p:txBody>
      </p:sp>
      <p:sp>
        <p:nvSpPr>
          <p:cNvPr id="76" name="Google Shape;76;p7"/>
          <p:cNvSpPr/>
          <p:nvPr/>
        </p:nvSpPr>
        <p:spPr>
          <a:xfrm>
            <a:off x="8223250" y="2162175"/>
            <a:ext cx="3073400"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Strong, not perfect</a:t>
            </a:r>
            <a:endParaRPr/>
          </a:p>
        </p:txBody>
      </p:sp>
      <p:sp>
        <p:nvSpPr>
          <p:cNvPr id="77" name="Google Shape;77;p7"/>
          <p:cNvSpPr/>
          <p:nvPr/>
        </p:nvSpPr>
        <p:spPr>
          <a:xfrm>
            <a:off x="8223250" y="2609850"/>
            <a:ext cx="3073400" cy="1047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Long context helps, but it does not remove the need to check facts and source use.</a:t>
            </a:r>
            <a:endParaRPr/>
          </a:p>
        </p:txBody>
      </p:sp>
      <p:sp>
        <p:nvSpPr>
          <p:cNvPr id="78" name="Google Shape;78;p7"/>
          <p:cNvSpPr/>
          <p:nvPr/>
        </p:nvSpPr>
        <p:spPr>
          <a:xfrm>
            <a:off x="2095500" y="4343400"/>
            <a:ext cx="8001000" cy="971550"/>
          </a:xfrm>
          <a:prstGeom prst="rect">
            <a:avLst/>
          </a:prstGeom>
          <a:solidFill>
            <a:srgbClr val="E8EEF4"/>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7"/>
          <p:cNvSpPr/>
          <p:nvPr/>
        </p:nvSpPr>
        <p:spPr>
          <a:xfrm>
            <a:off x="2286000" y="4552950"/>
            <a:ext cx="7620000"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Simple analogy</a:t>
            </a:r>
            <a:endParaRPr/>
          </a:p>
        </p:txBody>
      </p:sp>
      <p:sp>
        <p:nvSpPr>
          <p:cNvPr id="80" name="Google Shape;80;p7"/>
          <p:cNvSpPr/>
          <p:nvPr/>
        </p:nvSpPr>
        <p:spPr>
          <a:xfrm>
            <a:off x="2286000" y="5010150"/>
            <a:ext cx="7620000" cy="323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A prompt is like handing someone a meeting packet. A one-page agenda is quick. A 200-page binder takes more attention.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85" name="Shape 85"/>
        <p:cNvGrpSpPr/>
        <p:nvPr/>
      </p:nvGrpSpPr>
      <p:grpSpPr>
        <a:xfrm>
          <a:off x="0" y="0"/>
          <a:ext cx="0" cy="0"/>
          <a:chOff x="0" y="0"/>
          <a:chExt cx="0" cy="0"/>
        </a:xfrm>
      </p:grpSpPr>
      <p:sp>
        <p:nvSpPr>
          <p:cNvPr id="86" name="Google Shape;86;p8"/>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COST</a:t>
            </a:r>
            <a:endParaRPr/>
          </a:p>
        </p:txBody>
      </p:sp>
      <p:sp>
        <p:nvSpPr>
          <p:cNvPr id="87" name="Google Shape;87;p8"/>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Tokenomics</a:t>
            </a:r>
            <a:endParaRPr/>
          </a:p>
        </p:txBody>
      </p:sp>
      <p:sp>
        <p:nvSpPr>
          <p:cNvPr id="88" name="Google Shape;88;p8"/>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06</a:t>
            </a:r>
            <a:endParaRPr/>
          </a:p>
        </p:txBody>
      </p:sp>
      <p:sp>
        <p:nvSpPr>
          <p:cNvPr id="90" name="Google Shape;90;p8"/>
          <p:cNvSpPr/>
          <p:nvPr/>
        </p:nvSpPr>
        <p:spPr>
          <a:xfrm>
            <a:off x="704850" y="1695450"/>
            <a:ext cx="2000250" cy="400050"/>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819150" y="1790700"/>
            <a:ext cx="177165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Choice</a:t>
            </a:r>
            <a:endParaRPr/>
          </a:p>
        </p:txBody>
      </p:sp>
      <p:sp>
        <p:nvSpPr>
          <p:cNvPr id="92" name="Google Shape;92;p8"/>
          <p:cNvSpPr/>
          <p:nvPr/>
        </p:nvSpPr>
        <p:spPr>
          <a:xfrm>
            <a:off x="2705100" y="1695450"/>
            <a:ext cx="4095750" cy="400050"/>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a:off x="2819400" y="1790700"/>
            <a:ext cx="386715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What changes</a:t>
            </a:r>
            <a:endParaRPr/>
          </a:p>
        </p:txBody>
      </p:sp>
      <p:sp>
        <p:nvSpPr>
          <p:cNvPr id="94" name="Google Shape;94;p8"/>
          <p:cNvSpPr/>
          <p:nvPr/>
        </p:nvSpPr>
        <p:spPr>
          <a:xfrm>
            <a:off x="6800850" y="1695450"/>
            <a:ext cx="4686300" cy="400050"/>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a:off x="6915150" y="1790700"/>
            <a:ext cx="445770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Practical habit</a:t>
            </a:r>
            <a:endParaRPr/>
          </a:p>
        </p:txBody>
      </p:sp>
      <p:sp>
        <p:nvSpPr>
          <p:cNvPr id="96" name="Google Shape;96;p8"/>
          <p:cNvSpPr/>
          <p:nvPr/>
        </p:nvSpPr>
        <p:spPr>
          <a:xfrm>
            <a:off x="704850" y="2095500"/>
            <a:ext cx="2000250" cy="6858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8"/>
          <p:cNvSpPr/>
          <p:nvPr/>
        </p:nvSpPr>
        <p:spPr>
          <a:xfrm>
            <a:off x="819150" y="2209800"/>
            <a:ext cx="177165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Long files</a:t>
            </a:r>
            <a:endParaRPr/>
          </a:p>
        </p:txBody>
      </p:sp>
      <p:sp>
        <p:nvSpPr>
          <p:cNvPr id="98" name="Google Shape;98;p8"/>
          <p:cNvSpPr/>
          <p:nvPr/>
        </p:nvSpPr>
        <p:spPr>
          <a:xfrm>
            <a:off x="2705100" y="2095500"/>
            <a:ext cx="4095750" cy="6858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8"/>
          <p:cNvSpPr/>
          <p:nvPr/>
        </p:nvSpPr>
        <p:spPr>
          <a:xfrm>
            <a:off x="2819400" y="2209800"/>
            <a:ext cx="386715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More tokens in</a:t>
            </a:r>
            <a:endParaRPr/>
          </a:p>
        </p:txBody>
      </p:sp>
      <p:sp>
        <p:nvSpPr>
          <p:cNvPr id="100" name="Google Shape;100;p8"/>
          <p:cNvSpPr/>
          <p:nvPr/>
        </p:nvSpPr>
        <p:spPr>
          <a:xfrm>
            <a:off x="6800850" y="2095500"/>
            <a:ext cx="4686300" cy="6858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8"/>
          <p:cNvSpPr/>
          <p:nvPr/>
        </p:nvSpPr>
        <p:spPr>
          <a:xfrm>
            <a:off x="6915150" y="2209800"/>
            <a:ext cx="445770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Upload what is useful, not everything nearby.</a:t>
            </a:r>
            <a:endParaRPr/>
          </a:p>
        </p:txBody>
      </p:sp>
      <p:sp>
        <p:nvSpPr>
          <p:cNvPr id="102" name="Google Shape;102;p8"/>
          <p:cNvSpPr/>
          <p:nvPr/>
        </p:nvSpPr>
        <p:spPr>
          <a:xfrm>
            <a:off x="704850" y="2781300"/>
            <a:ext cx="2000250" cy="6858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8"/>
          <p:cNvSpPr/>
          <p:nvPr/>
        </p:nvSpPr>
        <p:spPr>
          <a:xfrm>
            <a:off x="819150" y="2895600"/>
            <a:ext cx="177165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Long answers</a:t>
            </a:r>
            <a:endParaRPr/>
          </a:p>
        </p:txBody>
      </p:sp>
      <p:sp>
        <p:nvSpPr>
          <p:cNvPr id="104" name="Google Shape;104;p8"/>
          <p:cNvSpPr/>
          <p:nvPr/>
        </p:nvSpPr>
        <p:spPr>
          <a:xfrm>
            <a:off x="2705100" y="2781300"/>
            <a:ext cx="4095750" cy="6858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
          <p:cNvSpPr/>
          <p:nvPr/>
        </p:nvSpPr>
        <p:spPr>
          <a:xfrm>
            <a:off x="2819400" y="2895600"/>
            <a:ext cx="386715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More tokens out</a:t>
            </a:r>
            <a:endParaRPr/>
          </a:p>
        </p:txBody>
      </p:sp>
      <p:sp>
        <p:nvSpPr>
          <p:cNvPr id="106" name="Google Shape;106;p8"/>
          <p:cNvSpPr/>
          <p:nvPr/>
        </p:nvSpPr>
        <p:spPr>
          <a:xfrm>
            <a:off x="6800850" y="2781300"/>
            <a:ext cx="4686300" cy="6858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8"/>
          <p:cNvSpPr/>
          <p:nvPr/>
        </p:nvSpPr>
        <p:spPr>
          <a:xfrm>
            <a:off x="6915150" y="2895600"/>
            <a:ext cx="445770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Ask for the format and length you need.</a:t>
            </a:r>
            <a:endParaRPr/>
          </a:p>
        </p:txBody>
      </p:sp>
      <p:sp>
        <p:nvSpPr>
          <p:cNvPr id="108" name="Google Shape;108;p8"/>
          <p:cNvSpPr/>
          <p:nvPr/>
        </p:nvSpPr>
        <p:spPr>
          <a:xfrm>
            <a:off x="704850" y="3467100"/>
            <a:ext cx="2000250" cy="6858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p:nvPr/>
        </p:nvSpPr>
        <p:spPr>
          <a:xfrm>
            <a:off x="819150" y="3581400"/>
            <a:ext cx="177165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Higher effort</a:t>
            </a:r>
            <a:endParaRPr/>
          </a:p>
        </p:txBody>
      </p:sp>
      <p:sp>
        <p:nvSpPr>
          <p:cNvPr id="110" name="Google Shape;110;p8"/>
          <p:cNvSpPr/>
          <p:nvPr/>
        </p:nvSpPr>
        <p:spPr>
          <a:xfrm>
            <a:off x="2705100" y="3467100"/>
            <a:ext cx="4095750" cy="6858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8"/>
          <p:cNvSpPr/>
          <p:nvPr/>
        </p:nvSpPr>
        <p:spPr>
          <a:xfrm>
            <a:off x="2819400" y="3581400"/>
            <a:ext cx="386715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More thinking</a:t>
            </a:r>
            <a:endParaRPr/>
          </a:p>
        </p:txBody>
      </p:sp>
      <p:sp>
        <p:nvSpPr>
          <p:cNvPr id="112" name="Google Shape;112;p8"/>
          <p:cNvSpPr/>
          <p:nvPr/>
        </p:nvSpPr>
        <p:spPr>
          <a:xfrm>
            <a:off x="6800850" y="3467100"/>
            <a:ext cx="4686300" cy="6858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8"/>
          <p:cNvSpPr/>
          <p:nvPr/>
        </p:nvSpPr>
        <p:spPr>
          <a:xfrm>
            <a:off x="6915150" y="3581400"/>
            <a:ext cx="445770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Use deep dive only when quality matters.</a:t>
            </a:r>
            <a:endParaRPr/>
          </a:p>
        </p:txBody>
      </p:sp>
      <p:sp>
        <p:nvSpPr>
          <p:cNvPr id="114" name="Google Shape;114;p8"/>
          <p:cNvSpPr/>
          <p:nvPr/>
        </p:nvSpPr>
        <p:spPr>
          <a:xfrm>
            <a:off x="704850" y="4152900"/>
            <a:ext cx="2000250" cy="6858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p:nvPr/>
        </p:nvSpPr>
        <p:spPr>
          <a:xfrm>
            <a:off x="819150" y="4267200"/>
            <a:ext cx="177165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Stronger model</a:t>
            </a:r>
            <a:endParaRPr/>
          </a:p>
        </p:txBody>
      </p:sp>
      <p:sp>
        <p:nvSpPr>
          <p:cNvPr id="116" name="Google Shape;116;p8"/>
          <p:cNvSpPr/>
          <p:nvPr/>
        </p:nvSpPr>
        <p:spPr>
          <a:xfrm>
            <a:off x="2705100" y="4152900"/>
            <a:ext cx="4095750" cy="6858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a:off x="2819400" y="4267200"/>
            <a:ext cx="386715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More capability</a:t>
            </a:r>
            <a:endParaRPr/>
          </a:p>
        </p:txBody>
      </p:sp>
      <p:sp>
        <p:nvSpPr>
          <p:cNvPr id="118" name="Google Shape;118;p8"/>
          <p:cNvSpPr/>
          <p:nvPr/>
        </p:nvSpPr>
        <p:spPr>
          <a:xfrm>
            <a:off x="6800850" y="4152900"/>
            <a:ext cx="4686300" cy="6858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8"/>
          <p:cNvSpPr/>
          <p:nvPr/>
        </p:nvSpPr>
        <p:spPr>
          <a:xfrm>
            <a:off x="6915150" y="4267200"/>
            <a:ext cx="445770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Use Sonnet for most work; raise only when needed.</a:t>
            </a:r>
            <a:endParaRPr/>
          </a:p>
        </p:txBody>
      </p:sp>
      <p:sp>
        <p:nvSpPr>
          <p:cNvPr id="120" name="Google Shape;120;p8"/>
          <p:cNvSpPr/>
          <p:nvPr/>
        </p:nvSpPr>
        <p:spPr>
          <a:xfrm>
            <a:off x="1028700" y="5810250"/>
            <a:ext cx="9525000" cy="3048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B6470"/>
                </a:solidFill>
                <a:latin typeface="Arial"/>
                <a:ea typeface="Arial"/>
                <a:cs typeface="Arial"/>
                <a:sym typeface="Arial"/>
              </a:rPr>
              <a:t>Rule of thumb: shorter, clearer, better-scoped prompts are usually faster and easier to review.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125" name="Shape 125"/>
        <p:cNvGrpSpPr/>
        <p:nvPr/>
      </p:nvGrpSpPr>
      <p:grpSpPr>
        <a:xfrm>
          <a:off x="0" y="0"/>
          <a:ext cx="0" cy="0"/>
          <a:chOff x="0" y="0"/>
          <a:chExt cx="0" cy="0"/>
        </a:xfrm>
      </p:grpSpPr>
      <p:sp>
        <p:nvSpPr>
          <p:cNvPr id="126" name="Google Shape;126;p9"/>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DATA RULES</a:t>
            </a:r>
            <a:endParaRPr/>
          </a:p>
        </p:txBody>
      </p:sp>
      <p:sp>
        <p:nvSpPr>
          <p:cNvPr id="127" name="Google Shape;127;p9"/>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Data Rules</a:t>
            </a:r>
            <a:endParaRPr/>
          </a:p>
        </p:txBody>
      </p:sp>
      <p:sp>
        <p:nvSpPr>
          <p:cNvPr id="128" name="Google Shape;128;p9"/>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07</a:t>
            </a:r>
            <a:endParaRPr/>
          </a:p>
        </p:txBody>
      </p:sp>
      <p:sp>
        <p:nvSpPr>
          <p:cNvPr id="130" name="Google Shape;130;p9"/>
          <p:cNvSpPr/>
          <p:nvPr/>
        </p:nvSpPr>
        <p:spPr>
          <a:xfrm>
            <a:off x="952500" y="1790700"/>
            <a:ext cx="10001250" cy="31432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7202A"/>
                </a:solidFill>
                <a:latin typeface="Arial"/>
                <a:ea typeface="Arial"/>
                <a:cs typeface="Arial"/>
                <a:sym typeface="Arial"/>
              </a:rPr>
              <a:t>• </a:t>
            </a:r>
            <a:r>
              <a:rPr lang="en-US" sz="1800">
                <a:solidFill>
                  <a:srgbClr val="17202A"/>
                </a:solidFill>
              </a:rPr>
              <a:t>__</a:t>
            </a:r>
            <a:r>
              <a:rPr b="0" lang="en-US" sz="1800">
                <a:solidFill>
                  <a:srgbClr val="17202A"/>
                </a:solidFill>
                <a:latin typeface="Arial"/>
                <a:ea typeface="Arial"/>
                <a:cs typeface="Arial"/>
                <a:sym typeface="Arial"/>
              </a:rPr>
              <a:t> proprietary data: use only if internal policy allows.</a:t>
            </a:r>
            <a:endParaRPr/>
          </a:p>
          <a:p>
            <a:pPr indent="0" lvl="0" marL="0" marR="0" rtl="0" algn="l">
              <a:spcBef>
                <a:spcPts val="0"/>
              </a:spcBef>
              <a:spcAft>
                <a:spcPts val="0"/>
              </a:spcAft>
              <a:buNone/>
            </a:pPr>
            <a:r>
              <a:rPr b="0" lang="en-US" sz="1800">
                <a:solidFill>
                  <a:srgbClr val="17202A"/>
                </a:solidFill>
                <a:latin typeface="Arial"/>
                <a:ea typeface="Arial"/>
                <a:cs typeface="Arial"/>
                <a:sym typeface="Arial"/>
              </a:rPr>
              <a:t>• CUI: do not put into Claude Commercial.</a:t>
            </a:r>
            <a:endParaRPr/>
          </a:p>
          <a:p>
            <a:pPr indent="0" lvl="0" marL="0" marR="0" rtl="0" algn="l">
              <a:spcBef>
                <a:spcPts val="0"/>
              </a:spcBef>
              <a:spcAft>
                <a:spcPts val="0"/>
              </a:spcAft>
              <a:buNone/>
            </a:pPr>
            <a:r>
              <a:rPr b="0" lang="en-US" sz="1800">
                <a:solidFill>
                  <a:srgbClr val="17202A"/>
                </a:solidFill>
                <a:latin typeface="Arial"/>
                <a:ea typeface="Arial"/>
                <a:cs typeface="Arial"/>
                <a:sym typeface="Arial"/>
              </a:rPr>
              <a:t>• Classified, export-controlled, customer-restricted, privileged, or sensitive personal data: do not use unless explicitly approved.</a:t>
            </a:r>
            <a:endParaRPr/>
          </a:p>
          <a:p>
            <a:pPr indent="0" lvl="0" marL="0" marR="0" rtl="0" algn="l">
              <a:spcBef>
                <a:spcPts val="0"/>
              </a:spcBef>
              <a:spcAft>
                <a:spcPts val="0"/>
              </a:spcAft>
              <a:buNone/>
            </a:pPr>
            <a:r>
              <a:rPr b="0" lang="en-US" sz="1800">
                <a:solidFill>
                  <a:srgbClr val="17202A"/>
                </a:solidFill>
                <a:latin typeface="Arial"/>
                <a:ea typeface="Arial"/>
                <a:cs typeface="Arial"/>
                <a:sym typeface="Arial"/>
              </a:rPr>
              <a:t>• Claude output is a draft.</a:t>
            </a:r>
            <a:endParaRPr/>
          </a:p>
          <a:p>
            <a:pPr indent="0" lvl="0" marL="0" marR="0" rtl="0" algn="l">
              <a:spcBef>
                <a:spcPts val="0"/>
              </a:spcBef>
              <a:spcAft>
                <a:spcPts val="0"/>
              </a:spcAft>
              <a:buNone/>
            </a:pPr>
            <a:r>
              <a:rPr b="0" lang="en-US" sz="1800">
                <a:solidFill>
                  <a:srgbClr val="17202A"/>
                </a:solidFill>
                <a:latin typeface="Arial"/>
                <a:ea typeface="Arial"/>
                <a:cs typeface="Arial"/>
                <a:sym typeface="Arial"/>
              </a:rPr>
              <a:t>• Check numbers, citations, assumptions, and customer-facing wording.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135" name="Shape 135"/>
        <p:cNvGrpSpPr/>
        <p:nvPr/>
      </p:nvGrpSpPr>
      <p:grpSpPr>
        <a:xfrm>
          <a:off x="0" y="0"/>
          <a:ext cx="0" cy="0"/>
          <a:chOff x="0" y="0"/>
          <a:chExt cx="0" cy="0"/>
        </a:xfrm>
      </p:grpSpPr>
      <p:sp>
        <p:nvSpPr>
          <p:cNvPr id="136" name="Google Shape;136;p10"/>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SETTINGS</a:t>
            </a:r>
            <a:endParaRPr/>
          </a:p>
        </p:txBody>
      </p:sp>
      <p:sp>
        <p:nvSpPr>
          <p:cNvPr id="137" name="Google Shape;137;p10"/>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Settings</a:t>
            </a:r>
            <a:endParaRPr/>
          </a:p>
        </p:txBody>
      </p:sp>
      <p:sp>
        <p:nvSpPr>
          <p:cNvPr id="138" name="Google Shape;138;p10"/>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0"/>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08</a:t>
            </a:r>
            <a:endParaRPr/>
          </a:p>
        </p:txBody>
      </p:sp>
      <p:sp>
        <p:nvSpPr>
          <p:cNvPr id="140" name="Google Shape;140;p10"/>
          <p:cNvSpPr/>
          <p:nvPr/>
        </p:nvSpPr>
        <p:spPr>
          <a:xfrm>
            <a:off x="704850" y="1562100"/>
            <a:ext cx="2476500" cy="400050"/>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0"/>
          <p:cNvSpPr/>
          <p:nvPr/>
        </p:nvSpPr>
        <p:spPr>
          <a:xfrm>
            <a:off x="819150" y="1657350"/>
            <a:ext cx="224790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Setting</a:t>
            </a:r>
            <a:endParaRPr/>
          </a:p>
        </p:txBody>
      </p:sp>
      <p:sp>
        <p:nvSpPr>
          <p:cNvPr id="142" name="Google Shape;142;p10"/>
          <p:cNvSpPr/>
          <p:nvPr/>
        </p:nvSpPr>
        <p:spPr>
          <a:xfrm>
            <a:off x="3181350" y="1562100"/>
            <a:ext cx="4095750" cy="400050"/>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0"/>
          <p:cNvSpPr/>
          <p:nvPr/>
        </p:nvSpPr>
        <p:spPr>
          <a:xfrm>
            <a:off x="3295650" y="1657350"/>
            <a:ext cx="386715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Recommendation</a:t>
            </a:r>
            <a:endParaRPr/>
          </a:p>
        </p:txBody>
      </p:sp>
      <p:sp>
        <p:nvSpPr>
          <p:cNvPr id="144" name="Google Shape;144;p10"/>
          <p:cNvSpPr/>
          <p:nvPr/>
        </p:nvSpPr>
        <p:spPr>
          <a:xfrm>
            <a:off x="7277100" y="1562100"/>
            <a:ext cx="4210050" cy="400050"/>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0"/>
          <p:cNvSpPr/>
          <p:nvPr/>
        </p:nvSpPr>
        <p:spPr>
          <a:xfrm>
            <a:off x="7391400" y="1657350"/>
            <a:ext cx="398145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Why</a:t>
            </a:r>
            <a:endParaRPr/>
          </a:p>
        </p:txBody>
      </p:sp>
      <p:sp>
        <p:nvSpPr>
          <p:cNvPr id="146" name="Google Shape;146;p10"/>
          <p:cNvSpPr/>
          <p:nvPr/>
        </p:nvSpPr>
        <p:spPr>
          <a:xfrm>
            <a:off x="704850" y="1962150"/>
            <a:ext cx="2476500" cy="5905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0"/>
          <p:cNvSpPr/>
          <p:nvPr/>
        </p:nvSpPr>
        <p:spPr>
          <a:xfrm>
            <a:off x="819150" y="2076450"/>
            <a:ext cx="2247900" cy="4381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Work description</a:t>
            </a:r>
            <a:endParaRPr/>
          </a:p>
        </p:txBody>
      </p:sp>
      <p:sp>
        <p:nvSpPr>
          <p:cNvPr id="148" name="Google Shape;148;p10"/>
          <p:cNvSpPr/>
          <p:nvPr/>
        </p:nvSpPr>
        <p:spPr>
          <a:xfrm>
            <a:off x="3181350" y="1962150"/>
            <a:ext cx="4095750" cy="5905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0"/>
          <p:cNvSpPr/>
          <p:nvPr/>
        </p:nvSpPr>
        <p:spPr>
          <a:xfrm>
            <a:off x="3295650" y="2076450"/>
            <a:ext cx="3867150" cy="4381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Finance, Business, or Operations</a:t>
            </a:r>
            <a:endParaRPr/>
          </a:p>
        </p:txBody>
      </p:sp>
      <p:sp>
        <p:nvSpPr>
          <p:cNvPr id="150" name="Google Shape;150;p10"/>
          <p:cNvSpPr/>
          <p:nvPr/>
        </p:nvSpPr>
        <p:spPr>
          <a:xfrm>
            <a:off x="7277100" y="1962150"/>
            <a:ext cx="4210050" cy="5905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0"/>
          <p:cNvSpPr/>
          <p:nvPr/>
        </p:nvSpPr>
        <p:spPr>
          <a:xfrm>
            <a:off x="7391400" y="2076450"/>
            <a:ext cx="3981450" cy="4381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Use the closest option available.</a:t>
            </a:r>
            <a:endParaRPr/>
          </a:p>
        </p:txBody>
      </p:sp>
      <p:sp>
        <p:nvSpPr>
          <p:cNvPr id="152" name="Google Shape;152;p10"/>
          <p:cNvSpPr/>
          <p:nvPr/>
        </p:nvSpPr>
        <p:spPr>
          <a:xfrm>
            <a:off x="704850" y="2552700"/>
            <a:ext cx="2476500" cy="5905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0"/>
          <p:cNvSpPr/>
          <p:nvPr/>
        </p:nvSpPr>
        <p:spPr>
          <a:xfrm>
            <a:off x="819150" y="2667000"/>
            <a:ext cx="2247900" cy="4381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Style</a:t>
            </a:r>
            <a:endParaRPr/>
          </a:p>
        </p:txBody>
      </p:sp>
      <p:sp>
        <p:nvSpPr>
          <p:cNvPr id="154" name="Google Shape;154;p10"/>
          <p:cNvSpPr/>
          <p:nvPr/>
        </p:nvSpPr>
        <p:spPr>
          <a:xfrm>
            <a:off x="3181350" y="2552700"/>
            <a:ext cx="4095750" cy="5905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0"/>
          <p:cNvSpPr/>
          <p:nvPr/>
        </p:nvSpPr>
        <p:spPr>
          <a:xfrm>
            <a:off x="3295650" y="2667000"/>
            <a:ext cx="3867150" cy="4381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Concise</a:t>
            </a:r>
            <a:endParaRPr/>
          </a:p>
        </p:txBody>
      </p:sp>
      <p:sp>
        <p:nvSpPr>
          <p:cNvPr id="156" name="Google Shape;156;p10"/>
          <p:cNvSpPr/>
          <p:nvPr/>
        </p:nvSpPr>
        <p:spPr>
          <a:xfrm>
            <a:off x="7277100" y="2552700"/>
            <a:ext cx="4210050" cy="5905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0"/>
          <p:cNvSpPr/>
          <p:nvPr/>
        </p:nvSpPr>
        <p:spPr>
          <a:xfrm>
            <a:off x="7391400" y="2667000"/>
            <a:ext cx="3981450" cy="4381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Keeps answers shorter and easier to review.</a:t>
            </a:r>
            <a:endParaRPr/>
          </a:p>
        </p:txBody>
      </p:sp>
      <p:sp>
        <p:nvSpPr>
          <p:cNvPr id="158" name="Google Shape;158;p10"/>
          <p:cNvSpPr/>
          <p:nvPr/>
        </p:nvSpPr>
        <p:spPr>
          <a:xfrm>
            <a:off x="704850" y="3143250"/>
            <a:ext cx="2476500" cy="5905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0"/>
          <p:cNvSpPr/>
          <p:nvPr/>
        </p:nvSpPr>
        <p:spPr>
          <a:xfrm>
            <a:off x="819150" y="3257550"/>
            <a:ext cx="2247900" cy="4381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Instructions</a:t>
            </a:r>
            <a:endParaRPr/>
          </a:p>
        </p:txBody>
      </p:sp>
      <p:sp>
        <p:nvSpPr>
          <p:cNvPr id="160" name="Google Shape;160;p10"/>
          <p:cNvSpPr/>
          <p:nvPr/>
        </p:nvSpPr>
        <p:spPr>
          <a:xfrm>
            <a:off x="3181350" y="3143250"/>
            <a:ext cx="4095750" cy="5905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0"/>
          <p:cNvSpPr/>
          <p:nvPr/>
        </p:nvSpPr>
        <p:spPr>
          <a:xfrm>
            <a:off x="3295650" y="3257550"/>
            <a:ext cx="3867150" cy="4381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Use the block below</a:t>
            </a:r>
            <a:endParaRPr/>
          </a:p>
        </p:txBody>
      </p:sp>
      <p:sp>
        <p:nvSpPr>
          <p:cNvPr id="162" name="Google Shape;162;p10"/>
          <p:cNvSpPr/>
          <p:nvPr/>
        </p:nvSpPr>
        <p:spPr>
          <a:xfrm>
            <a:off x="7277100" y="3143250"/>
            <a:ext cx="4210050" cy="5905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0"/>
          <p:cNvSpPr/>
          <p:nvPr/>
        </p:nvSpPr>
        <p:spPr>
          <a:xfrm>
            <a:off x="7391400" y="3257550"/>
            <a:ext cx="3981450" cy="4381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Sets expectations for tone, sources, and review.</a:t>
            </a:r>
            <a:endParaRPr/>
          </a:p>
        </p:txBody>
      </p:sp>
      <p:sp>
        <p:nvSpPr>
          <p:cNvPr id="164" name="Google Shape;164;p10"/>
          <p:cNvSpPr/>
          <p:nvPr/>
        </p:nvSpPr>
        <p:spPr>
          <a:xfrm>
            <a:off x="704850" y="3733800"/>
            <a:ext cx="2476500" cy="5905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0"/>
          <p:cNvSpPr/>
          <p:nvPr/>
        </p:nvSpPr>
        <p:spPr>
          <a:xfrm>
            <a:off x="819150" y="3848100"/>
            <a:ext cx="2247900" cy="4381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Memory import</a:t>
            </a:r>
            <a:endParaRPr/>
          </a:p>
        </p:txBody>
      </p:sp>
      <p:sp>
        <p:nvSpPr>
          <p:cNvPr id="166" name="Google Shape;166;p10"/>
          <p:cNvSpPr/>
          <p:nvPr/>
        </p:nvSpPr>
        <p:spPr>
          <a:xfrm>
            <a:off x="3181350" y="3733800"/>
            <a:ext cx="4095750" cy="5905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0"/>
          <p:cNvSpPr/>
          <p:nvPr/>
        </p:nvSpPr>
        <p:spPr>
          <a:xfrm>
            <a:off x="3295650" y="3848100"/>
            <a:ext cx="3867150" cy="4381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Only approved, cleaned preferences</a:t>
            </a:r>
            <a:endParaRPr/>
          </a:p>
        </p:txBody>
      </p:sp>
      <p:sp>
        <p:nvSpPr>
          <p:cNvPr id="168" name="Google Shape;168;p10"/>
          <p:cNvSpPr/>
          <p:nvPr/>
        </p:nvSpPr>
        <p:spPr>
          <a:xfrm>
            <a:off x="7277100" y="3733800"/>
            <a:ext cx="4210050" cy="5905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0"/>
          <p:cNvSpPr/>
          <p:nvPr/>
        </p:nvSpPr>
        <p:spPr>
          <a:xfrm>
            <a:off x="7391400" y="3848100"/>
            <a:ext cx="3981450" cy="4381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Same data rules as ChatGPT Enterprise.</a:t>
            </a:r>
            <a:endParaRPr/>
          </a:p>
        </p:txBody>
      </p:sp>
      <p:sp>
        <p:nvSpPr>
          <p:cNvPr id="170" name="Google Shape;170;p10"/>
          <p:cNvSpPr/>
          <p:nvPr/>
        </p:nvSpPr>
        <p:spPr>
          <a:xfrm>
            <a:off x="1143000" y="4610100"/>
            <a:ext cx="9906000" cy="1104900"/>
          </a:xfrm>
          <a:prstGeom prst="rect">
            <a:avLst/>
          </a:prstGeom>
          <a:solidFill>
            <a:srgbClr val="F3EBD8"/>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0"/>
          <p:cNvSpPr/>
          <p:nvPr/>
        </p:nvSpPr>
        <p:spPr>
          <a:xfrm>
            <a:off x="1409700" y="4819650"/>
            <a:ext cx="4000500" cy="2476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500">
                <a:solidFill>
                  <a:srgbClr val="17202A"/>
                </a:solidFill>
                <a:latin typeface="Arial"/>
                <a:ea typeface="Arial"/>
                <a:cs typeface="Arial"/>
                <a:sym typeface="Arial"/>
              </a:rPr>
              <a:t>Suggested Instructions for Claude</a:t>
            </a:r>
            <a:endParaRPr/>
          </a:p>
        </p:txBody>
      </p:sp>
      <p:sp>
        <p:nvSpPr>
          <p:cNvPr id="172" name="Google Shape;172;p10"/>
          <p:cNvSpPr/>
          <p:nvPr/>
        </p:nvSpPr>
        <p:spPr>
          <a:xfrm>
            <a:off x="1409700" y="5162550"/>
            <a:ext cx="9144000" cy="419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Keep responses concise and business-ready. Use plain language. Separate known facts from assumptions. When working from documents, cite the source text or say if the answer is not found. Ask clarifying questions when needed. Do not make up numbers.</a:t>
            </a:r>
            <a:endParaRPr/>
          </a:p>
        </p:txBody>
      </p:sp>
      <p:sp>
        <p:nvSpPr>
          <p:cNvPr id="173" name="Google Shape;173;p10"/>
          <p:cNvSpPr/>
          <p:nvPr/>
        </p:nvSpPr>
        <p:spPr>
          <a:xfrm>
            <a:off x="704850" y="6438900"/>
            <a:ext cx="5143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5B6470"/>
                </a:solidFill>
                <a:latin typeface="Arial"/>
                <a:ea typeface="Arial"/>
                <a:cs typeface="Arial"/>
                <a:sym typeface="Arial"/>
              </a:rPr>
              <a:t>Claude for </a:t>
            </a:r>
            <a:r>
              <a:rPr lang="en-US" sz="900">
                <a:solidFill>
                  <a:srgbClr val="5B6470"/>
                </a:solidFill>
              </a:rPr>
              <a:t>__</a:t>
            </a:r>
            <a:r>
              <a:rPr b="0" lang="en-US" sz="900">
                <a:solidFill>
                  <a:srgbClr val="5B6470"/>
                </a:solidFill>
                <a:latin typeface="Arial"/>
                <a:ea typeface="Arial"/>
                <a:cs typeface="Arial"/>
                <a:sym typeface="Arial"/>
              </a:rPr>
              <a:t> | July 1</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178" name="Shape 178"/>
        <p:cNvGrpSpPr/>
        <p:nvPr/>
      </p:nvGrpSpPr>
      <p:grpSpPr>
        <a:xfrm>
          <a:off x="0" y="0"/>
          <a:ext cx="0" cy="0"/>
          <a:chOff x="0" y="0"/>
          <a:chExt cx="0" cy="0"/>
        </a:xfrm>
      </p:grpSpPr>
      <p:sp>
        <p:nvSpPr>
          <p:cNvPr id="179" name="Google Shape;179;p11"/>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PROMPTING</a:t>
            </a:r>
            <a:endParaRPr/>
          </a:p>
        </p:txBody>
      </p:sp>
      <p:sp>
        <p:nvSpPr>
          <p:cNvPr id="180" name="Google Shape;180;p11"/>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Prompting</a:t>
            </a:r>
            <a:endParaRPr/>
          </a:p>
        </p:txBody>
      </p:sp>
      <p:sp>
        <p:nvSpPr>
          <p:cNvPr id="181" name="Google Shape;181;p11"/>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09</a:t>
            </a:r>
            <a:endParaRPr/>
          </a:p>
        </p:txBody>
      </p:sp>
      <p:sp>
        <p:nvSpPr>
          <p:cNvPr id="183" name="Google Shape;183;p11"/>
          <p:cNvSpPr/>
          <p:nvPr/>
        </p:nvSpPr>
        <p:spPr>
          <a:xfrm>
            <a:off x="704850" y="1657350"/>
            <a:ext cx="2566988" cy="3000375"/>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1"/>
          <p:cNvSpPr/>
          <p:nvPr/>
        </p:nvSpPr>
        <p:spPr>
          <a:xfrm>
            <a:off x="895350" y="1828800"/>
            <a:ext cx="2185988"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ROLE</a:t>
            </a:r>
            <a:endParaRPr/>
          </a:p>
        </p:txBody>
      </p:sp>
      <p:sp>
        <p:nvSpPr>
          <p:cNvPr id="185" name="Google Shape;185;p11"/>
          <p:cNvSpPr/>
          <p:nvPr/>
        </p:nvSpPr>
        <p:spPr>
          <a:xfrm>
            <a:off x="895350" y="2085975"/>
            <a:ext cx="2185988"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Who should Claude be?</a:t>
            </a:r>
            <a:endParaRPr/>
          </a:p>
        </p:txBody>
      </p:sp>
      <p:sp>
        <p:nvSpPr>
          <p:cNvPr id="186" name="Google Shape;186;p11"/>
          <p:cNvSpPr/>
          <p:nvPr/>
        </p:nvSpPr>
        <p:spPr>
          <a:xfrm>
            <a:off x="895350" y="2533650"/>
            <a:ext cx="2185988" cy="19335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Example: help me prepare an internal business review note.</a:t>
            </a:r>
            <a:endParaRPr/>
          </a:p>
        </p:txBody>
      </p:sp>
      <p:sp>
        <p:nvSpPr>
          <p:cNvPr id="187" name="Google Shape;187;p11"/>
          <p:cNvSpPr/>
          <p:nvPr/>
        </p:nvSpPr>
        <p:spPr>
          <a:xfrm>
            <a:off x="3443288" y="1657350"/>
            <a:ext cx="2566988" cy="3000375"/>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a:off x="3633788" y="1828800"/>
            <a:ext cx="2185988"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TASK</a:t>
            </a:r>
            <a:endParaRPr/>
          </a:p>
        </p:txBody>
      </p:sp>
      <p:sp>
        <p:nvSpPr>
          <p:cNvPr id="189" name="Google Shape;189;p11"/>
          <p:cNvSpPr/>
          <p:nvPr/>
        </p:nvSpPr>
        <p:spPr>
          <a:xfrm>
            <a:off x="3633788" y="2085975"/>
            <a:ext cx="2185988"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What should it do?</a:t>
            </a:r>
            <a:endParaRPr/>
          </a:p>
        </p:txBody>
      </p:sp>
      <p:sp>
        <p:nvSpPr>
          <p:cNvPr id="190" name="Google Shape;190;p11"/>
          <p:cNvSpPr/>
          <p:nvPr/>
        </p:nvSpPr>
        <p:spPr>
          <a:xfrm>
            <a:off x="3633788" y="2533650"/>
            <a:ext cx="2185988" cy="19335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Draft, summarize, compare, question, rewrite, or check.</a:t>
            </a:r>
            <a:endParaRPr/>
          </a:p>
        </p:txBody>
      </p:sp>
      <p:sp>
        <p:nvSpPr>
          <p:cNvPr id="191" name="Google Shape;191;p11"/>
          <p:cNvSpPr/>
          <p:nvPr/>
        </p:nvSpPr>
        <p:spPr>
          <a:xfrm>
            <a:off x="6181725" y="1657350"/>
            <a:ext cx="2566988" cy="3000375"/>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a:off x="6372225" y="1828800"/>
            <a:ext cx="2185988"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CONTEXT</a:t>
            </a:r>
            <a:endParaRPr/>
          </a:p>
        </p:txBody>
      </p:sp>
      <p:sp>
        <p:nvSpPr>
          <p:cNvPr id="193" name="Google Shape;193;p11"/>
          <p:cNvSpPr/>
          <p:nvPr/>
        </p:nvSpPr>
        <p:spPr>
          <a:xfrm>
            <a:off x="6372225" y="2085975"/>
            <a:ext cx="2185988"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What does it need?</a:t>
            </a:r>
            <a:endParaRPr/>
          </a:p>
        </p:txBody>
      </p:sp>
      <p:sp>
        <p:nvSpPr>
          <p:cNvPr id="194" name="Google Shape;194;p11"/>
          <p:cNvSpPr/>
          <p:nvPr/>
        </p:nvSpPr>
        <p:spPr>
          <a:xfrm>
            <a:off x="6372225" y="2533650"/>
            <a:ext cx="2185988" cy="19335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Audience, source material, assumptions, constraints, and tone.</a:t>
            </a:r>
            <a:endParaRPr/>
          </a:p>
        </p:txBody>
      </p:sp>
      <p:sp>
        <p:nvSpPr>
          <p:cNvPr id="195" name="Google Shape;195;p11"/>
          <p:cNvSpPr/>
          <p:nvPr/>
        </p:nvSpPr>
        <p:spPr>
          <a:xfrm>
            <a:off x="8920163" y="1657350"/>
            <a:ext cx="2566988" cy="3000375"/>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a:off x="9110663" y="1828800"/>
            <a:ext cx="2185988"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OUTPUT</a:t>
            </a:r>
            <a:endParaRPr/>
          </a:p>
        </p:txBody>
      </p:sp>
      <p:sp>
        <p:nvSpPr>
          <p:cNvPr id="197" name="Google Shape;197;p11"/>
          <p:cNvSpPr/>
          <p:nvPr/>
        </p:nvSpPr>
        <p:spPr>
          <a:xfrm>
            <a:off x="9110663" y="2085975"/>
            <a:ext cx="2185988"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What should it return?</a:t>
            </a:r>
            <a:endParaRPr/>
          </a:p>
        </p:txBody>
      </p:sp>
      <p:sp>
        <p:nvSpPr>
          <p:cNvPr id="198" name="Google Shape;198;p11"/>
          <p:cNvSpPr/>
          <p:nvPr/>
        </p:nvSpPr>
        <p:spPr>
          <a:xfrm>
            <a:off x="9110663" y="2533650"/>
            <a:ext cx="2185988" cy="193357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Bullets, table, email draft, questions, citations, or next steps.</a:t>
            </a:r>
            <a:endParaRPr/>
          </a:p>
        </p:txBody>
      </p:sp>
      <p:sp>
        <p:nvSpPr>
          <p:cNvPr id="199" name="Google Shape;199;p11"/>
          <p:cNvSpPr/>
          <p:nvPr/>
        </p:nvSpPr>
        <p:spPr>
          <a:xfrm>
            <a:off x="704850" y="6438900"/>
            <a:ext cx="5143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5B6470"/>
                </a:solidFill>
                <a:latin typeface="Arial"/>
                <a:ea typeface="Arial"/>
                <a:cs typeface="Arial"/>
                <a:sym typeface="Arial"/>
              </a:rPr>
              <a:t>Claude for </a:t>
            </a:r>
            <a:r>
              <a:rPr lang="en-US" sz="900">
                <a:solidFill>
                  <a:srgbClr val="5B6470"/>
                </a:solidFill>
              </a:rPr>
              <a:t>__</a:t>
            </a:r>
            <a:r>
              <a:rPr b="0" lang="en-US" sz="900">
                <a:solidFill>
                  <a:srgbClr val="5B6470"/>
                </a:solidFill>
                <a:latin typeface="Arial"/>
                <a:ea typeface="Arial"/>
                <a:cs typeface="Arial"/>
                <a:sym typeface="Arial"/>
              </a:rPr>
              <a:t> | July 1</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204" name="Shape 204"/>
        <p:cNvGrpSpPr/>
        <p:nvPr/>
      </p:nvGrpSpPr>
      <p:grpSpPr>
        <a:xfrm>
          <a:off x="0" y="0"/>
          <a:ext cx="0" cy="0"/>
          <a:chOff x="0" y="0"/>
          <a:chExt cx="0" cy="0"/>
        </a:xfrm>
      </p:grpSpPr>
      <p:sp>
        <p:nvSpPr>
          <p:cNvPr id="205" name="Google Shape;205;p12"/>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HANDS-ON</a:t>
            </a:r>
            <a:endParaRPr/>
          </a:p>
        </p:txBody>
      </p:sp>
      <p:sp>
        <p:nvSpPr>
          <p:cNvPr id="206" name="Google Shape;206;p12"/>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Prompt Practice</a:t>
            </a:r>
            <a:endParaRPr/>
          </a:p>
        </p:txBody>
      </p:sp>
      <p:sp>
        <p:nvSpPr>
          <p:cNvPr id="207" name="Google Shape;207;p12"/>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2"/>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10</a:t>
            </a:r>
            <a:endParaRPr/>
          </a:p>
        </p:txBody>
      </p:sp>
      <p:sp>
        <p:nvSpPr>
          <p:cNvPr id="209" name="Google Shape;209;p12"/>
          <p:cNvSpPr/>
          <p:nvPr/>
        </p:nvSpPr>
        <p:spPr>
          <a:xfrm>
            <a:off x="704850" y="1695450"/>
            <a:ext cx="4762500" cy="23812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2"/>
          <p:cNvSpPr/>
          <p:nvPr/>
        </p:nvSpPr>
        <p:spPr>
          <a:xfrm>
            <a:off x="990600" y="1962150"/>
            <a:ext cx="285750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9B3A37"/>
                </a:solidFill>
                <a:latin typeface="Arial"/>
                <a:ea typeface="Arial"/>
                <a:cs typeface="Arial"/>
                <a:sym typeface="Arial"/>
              </a:rPr>
              <a:t>Rough prompt</a:t>
            </a:r>
            <a:endParaRPr/>
          </a:p>
        </p:txBody>
      </p:sp>
      <p:sp>
        <p:nvSpPr>
          <p:cNvPr id="211" name="Google Shape;211;p12"/>
          <p:cNvSpPr/>
          <p:nvPr/>
        </p:nvSpPr>
        <p:spPr>
          <a:xfrm>
            <a:off x="990600" y="2647950"/>
            <a:ext cx="4000500" cy="4762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17202A"/>
                </a:solidFill>
                <a:latin typeface="Arial"/>
                <a:ea typeface="Arial"/>
                <a:cs typeface="Arial"/>
                <a:sym typeface="Arial"/>
              </a:rPr>
              <a:t>Summarize this variance.</a:t>
            </a:r>
            <a:endParaRPr/>
          </a:p>
        </p:txBody>
      </p:sp>
      <p:sp>
        <p:nvSpPr>
          <p:cNvPr id="212" name="Google Shape;212;p12"/>
          <p:cNvSpPr/>
          <p:nvPr/>
        </p:nvSpPr>
        <p:spPr>
          <a:xfrm>
            <a:off x="5867400" y="1695450"/>
            <a:ext cx="5619750" cy="3048000"/>
          </a:xfrm>
          <a:prstGeom prst="rect">
            <a:avLst/>
          </a:prstGeom>
          <a:solidFill>
            <a:srgbClr val="E7F0EC"/>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2"/>
          <p:cNvSpPr/>
          <p:nvPr/>
        </p:nvSpPr>
        <p:spPr>
          <a:xfrm>
            <a:off x="6153150" y="1962150"/>
            <a:ext cx="285750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6665A"/>
                </a:solidFill>
                <a:latin typeface="Arial"/>
                <a:ea typeface="Arial"/>
                <a:cs typeface="Arial"/>
                <a:sym typeface="Arial"/>
              </a:rPr>
              <a:t>Better prompt</a:t>
            </a:r>
            <a:endParaRPr/>
          </a:p>
        </p:txBody>
      </p:sp>
      <p:sp>
        <p:nvSpPr>
          <p:cNvPr id="214" name="Google Shape;214;p12"/>
          <p:cNvSpPr/>
          <p:nvPr/>
        </p:nvSpPr>
        <p:spPr>
          <a:xfrm>
            <a:off x="6153150" y="2476500"/>
            <a:ext cx="4953000" cy="16192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7202A"/>
                </a:solidFill>
                <a:latin typeface="Arial"/>
                <a:ea typeface="Arial"/>
                <a:cs typeface="Arial"/>
                <a:sym typeface="Arial"/>
              </a:rPr>
              <a:t>Help me draft an internal business review note. Explain the variance in 5 bullets using plain business language. Separate known facts from open questions. End with 3 follow-ups for the team.</a:t>
            </a:r>
            <a:endParaRPr/>
          </a:p>
        </p:txBody>
      </p:sp>
      <p:sp>
        <p:nvSpPr>
          <p:cNvPr id="215" name="Google Shape;215;p12"/>
          <p:cNvSpPr/>
          <p:nvPr/>
        </p:nvSpPr>
        <p:spPr>
          <a:xfrm>
            <a:off x="990600" y="5143500"/>
            <a:ext cx="6667500" cy="323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950">
                <a:solidFill>
                  <a:srgbClr val="17202A"/>
                </a:solidFill>
                <a:latin typeface="Arial"/>
                <a:ea typeface="Arial"/>
                <a:cs typeface="Arial"/>
                <a:sym typeface="Arial"/>
              </a:rPr>
              <a:t>Try both. Notice what changes.</a:t>
            </a:r>
            <a:endParaRPr/>
          </a:p>
        </p:txBody>
      </p:sp>
      <p:sp>
        <p:nvSpPr>
          <p:cNvPr id="216" name="Google Shape;216;p12"/>
          <p:cNvSpPr/>
          <p:nvPr/>
        </p:nvSpPr>
        <p:spPr>
          <a:xfrm>
            <a:off x="704850" y="6438900"/>
            <a:ext cx="5143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5B6470"/>
                </a:solidFill>
                <a:latin typeface="Arial"/>
                <a:ea typeface="Arial"/>
                <a:cs typeface="Arial"/>
                <a:sym typeface="Arial"/>
              </a:rPr>
              <a:t>Claude for </a:t>
            </a:r>
            <a:r>
              <a:rPr lang="en-US" sz="900">
                <a:solidFill>
                  <a:srgbClr val="5B6470"/>
                </a:solidFill>
              </a:rPr>
              <a:t>__</a:t>
            </a:r>
            <a:r>
              <a:rPr b="0" lang="en-US" sz="900">
                <a:solidFill>
                  <a:srgbClr val="5B6470"/>
                </a:solidFill>
                <a:latin typeface="Arial"/>
                <a:ea typeface="Arial"/>
                <a:cs typeface="Arial"/>
                <a:sym typeface="Arial"/>
              </a:rPr>
              <a:t> | July 1</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221" name="Shape 221"/>
        <p:cNvGrpSpPr/>
        <p:nvPr/>
      </p:nvGrpSpPr>
      <p:grpSpPr>
        <a:xfrm>
          <a:off x="0" y="0"/>
          <a:ext cx="0" cy="0"/>
          <a:chOff x="0" y="0"/>
          <a:chExt cx="0" cy="0"/>
        </a:xfrm>
      </p:grpSpPr>
      <p:sp>
        <p:nvSpPr>
          <p:cNvPr id="222" name="Google Shape;222;p13"/>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EXAMPLE</a:t>
            </a:r>
            <a:endParaRPr/>
          </a:p>
        </p:txBody>
      </p:sp>
      <p:sp>
        <p:nvSpPr>
          <p:cNvPr id="223" name="Google Shape;223;p13"/>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Variance Example</a:t>
            </a:r>
            <a:endParaRPr/>
          </a:p>
        </p:txBody>
      </p:sp>
      <p:sp>
        <p:nvSpPr>
          <p:cNvPr id="224" name="Google Shape;224;p13"/>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3"/>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11</a:t>
            </a:r>
            <a:endParaRPr/>
          </a:p>
        </p:txBody>
      </p:sp>
      <p:sp>
        <p:nvSpPr>
          <p:cNvPr id="226" name="Google Shape;226;p13"/>
          <p:cNvSpPr/>
          <p:nvPr/>
        </p:nvSpPr>
        <p:spPr>
          <a:xfrm>
            <a:off x="704850" y="1695450"/>
            <a:ext cx="2857500" cy="400050"/>
          </a:xfrm>
          <a:prstGeom prst="rect">
            <a:avLst/>
          </a:prstGeom>
          <a:solidFill>
            <a:srgbClr val="254F7A"/>
          </a:solidFill>
          <a:ln cap="flat" cmpd="sng" w="9525">
            <a:solidFill>
              <a:srgbClr val="254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3"/>
          <p:cNvSpPr/>
          <p:nvPr/>
        </p:nvSpPr>
        <p:spPr>
          <a:xfrm>
            <a:off x="819150" y="1790700"/>
            <a:ext cx="262890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Input</a:t>
            </a:r>
            <a:endParaRPr/>
          </a:p>
        </p:txBody>
      </p:sp>
      <p:sp>
        <p:nvSpPr>
          <p:cNvPr id="228" name="Google Shape;228;p13"/>
          <p:cNvSpPr/>
          <p:nvPr/>
        </p:nvSpPr>
        <p:spPr>
          <a:xfrm>
            <a:off x="3562350" y="1695450"/>
            <a:ext cx="4000500" cy="400050"/>
          </a:xfrm>
          <a:prstGeom prst="rect">
            <a:avLst/>
          </a:prstGeom>
          <a:solidFill>
            <a:srgbClr val="254F7A"/>
          </a:solidFill>
          <a:ln cap="flat" cmpd="sng" w="9525">
            <a:solidFill>
              <a:srgbClr val="254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3"/>
          <p:cNvSpPr/>
          <p:nvPr/>
        </p:nvSpPr>
        <p:spPr>
          <a:xfrm>
            <a:off x="3676650" y="1790700"/>
            <a:ext cx="377190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Ask Claude for</a:t>
            </a:r>
            <a:endParaRPr/>
          </a:p>
        </p:txBody>
      </p:sp>
      <p:sp>
        <p:nvSpPr>
          <p:cNvPr id="230" name="Google Shape;230;p13"/>
          <p:cNvSpPr/>
          <p:nvPr/>
        </p:nvSpPr>
        <p:spPr>
          <a:xfrm>
            <a:off x="7562850" y="1695450"/>
            <a:ext cx="3924300" cy="400050"/>
          </a:xfrm>
          <a:prstGeom prst="rect">
            <a:avLst/>
          </a:prstGeom>
          <a:solidFill>
            <a:srgbClr val="254F7A"/>
          </a:solidFill>
          <a:ln cap="flat" cmpd="sng" w="9525">
            <a:solidFill>
              <a:srgbClr val="254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3"/>
          <p:cNvSpPr/>
          <p:nvPr/>
        </p:nvSpPr>
        <p:spPr>
          <a:xfrm>
            <a:off x="7677150" y="1790700"/>
            <a:ext cx="369570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Review for</a:t>
            </a:r>
            <a:endParaRPr/>
          </a:p>
        </p:txBody>
      </p:sp>
      <p:sp>
        <p:nvSpPr>
          <p:cNvPr id="232" name="Google Shape;232;p13"/>
          <p:cNvSpPr/>
          <p:nvPr/>
        </p:nvSpPr>
        <p:spPr>
          <a:xfrm>
            <a:off x="704850" y="2095500"/>
            <a:ext cx="2857500" cy="7239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3"/>
          <p:cNvSpPr/>
          <p:nvPr/>
        </p:nvSpPr>
        <p:spPr>
          <a:xfrm>
            <a:off x="819150" y="2209800"/>
            <a:ext cx="2628900" cy="571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Actual vs plan</a:t>
            </a:r>
            <a:endParaRPr/>
          </a:p>
        </p:txBody>
      </p:sp>
      <p:sp>
        <p:nvSpPr>
          <p:cNvPr id="234" name="Google Shape;234;p13"/>
          <p:cNvSpPr/>
          <p:nvPr/>
        </p:nvSpPr>
        <p:spPr>
          <a:xfrm>
            <a:off x="3562350" y="2095500"/>
            <a:ext cx="4000500" cy="7239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3"/>
          <p:cNvSpPr/>
          <p:nvPr/>
        </p:nvSpPr>
        <p:spPr>
          <a:xfrm>
            <a:off x="3676650" y="2209800"/>
            <a:ext cx="3771900" cy="571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Plain-English driver summary</a:t>
            </a:r>
            <a:endParaRPr/>
          </a:p>
        </p:txBody>
      </p:sp>
      <p:sp>
        <p:nvSpPr>
          <p:cNvPr id="236" name="Google Shape;236;p13"/>
          <p:cNvSpPr/>
          <p:nvPr/>
        </p:nvSpPr>
        <p:spPr>
          <a:xfrm>
            <a:off x="7562850" y="2095500"/>
            <a:ext cx="3924300" cy="7239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3"/>
          <p:cNvSpPr/>
          <p:nvPr/>
        </p:nvSpPr>
        <p:spPr>
          <a:xfrm>
            <a:off x="7677150" y="2209800"/>
            <a:ext cx="3695700" cy="571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Math and units</a:t>
            </a:r>
            <a:endParaRPr/>
          </a:p>
        </p:txBody>
      </p:sp>
      <p:sp>
        <p:nvSpPr>
          <p:cNvPr id="238" name="Google Shape;238;p13"/>
          <p:cNvSpPr/>
          <p:nvPr/>
        </p:nvSpPr>
        <p:spPr>
          <a:xfrm>
            <a:off x="704850" y="2819400"/>
            <a:ext cx="2857500" cy="7239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3"/>
          <p:cNvSpPr/>
          <p:nvPr/>
        </p:nvSpPr>
        <p:spPr>
          <a:xfrm>
            <a:off x="819150" y="2933700"/>
            <a:ext cx="2628900" cy="571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Forecast change</a:t>
            </a:r>
            <a:endParaRPr/>
          </a:p>
        </p:txBody>
      </p:sp>
      <p:sp>
        <p:nvSpPr>
          <p:cNvPr id="240" name="Google Shape;240;p13"/>
          <p:cNvSpPr/>
          <p:nvPr/>
        </p:nvSpPr>
        <p:spPr>
          <a:xfrm>
            <a:off x="3562350" y="2819400"/>
            <a:ext cx="4000500" cy="7239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3"/>
          <p:cNvSpPr/>
          <p:nvPr/>
        </p:nvSpPr>
        <p:spPr>
          <a:xfrm>
            <a:off x="3676650" y="2933700"/>
            <a:ext cx="3771900" cy="571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What changed since last view</a:t>
            </a:r>
            <a:endParaRPr/>
          </a:p>
        </p:txBody>
      </p:sp>
      <p:sp>
        <p:nvSpPr>
          <p:cNvPr id="242" name="Google Shape;242;p13"/>
          <p:cNvSpPr/>
          <p:nvPr/>
        </p:nvSpPr>
        <p:spPr>
          <a:xfrm>
            <a:off x="7562850" y="2819400"/>
            <a:ext cx="3924300" cy="7239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3"/>
          <p:cNvSpPr/>
          <p:nvPr/>
        </p:nvSpPr>
        <p:spPr>
          <a:xfrm>
            <a:off x="7677150" y="2933700"/>
            <a:ext cx="3695700" cy="571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Timing and assumptions</a:t>
            </a:r>
            <a:endParaRPr/>
          </a:p>
        </p:txBody>
      </p:sp>
      <p:sp>
        <p:nvSpPr>
          <p:cNvPr id="244" name="Google Shape;244;p13"/>
          <p:cNvSpPr/>
          <p:nvPr/>
        </p:nvSpPr>
        <p:spPr>
          <a:xfrm>
            <a:off x="704850" y="3543300"/>
            <a:ext cx="2857500" cy="7239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3"/>
          <p:cNvSpPr/>
          <p:nvPr/>
        </p:nvSpPr>
        <p:spPr>
          <a:xfrm>
            <a:off x="819150" y="3657600"/>
            <a:ext cx="2628900" cy="571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Known drivers</a:t>
            </a:r>
            <a:endParaRPr/>
          </a:p>
        </p:txBody>
      </p:sp>
      <p:sp>
        <p:nvSpPr>
          <p:cNvPr id="246" name="Google Shape;246;p13"/>
          <p:cNvSpPr/>
          <p:nvPr/>
        </p:nvSpPr>
        <p:spPr>
          <a:xfrm>
            <a:off x="3562350" y="3543300"/>
            <a:ext cx="4000500" cy="7239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3"/>
          <p:cNvSpPr/>
          <p:nvPr/>
        </p:nvSpPr>
        <p:spPr>
          <a:xfrm>
            <a:off x="3676650" y="3657600"/>
            <a:ext cx="3771900" cy="571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Executive-ready bullets</a:t>
            </a:r>
            <a:endParaRPr/>
          </a:p>
        </p:txBody>
      </p:sp>
      <p:sp>
        <p:nvSpPr>
          <p:cNvPr id="248" name="Google Shape;248;p13"/>
          <p:cNvSpPr/>
          <p:nvPr/>
        </p:nvSpPr>
        <p:spPr>
          <a:xfrm>
            <a:off x="7562850" y="3543300"/>
            <a:ext cx="3924300" cy="7239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3"/>
          <p:cNvSpPr/>
          <p:nvPr/>
        </p:nvSpPr>
        <p:spPr>
          <a:xfrm>
            <a:off x="7677150" y="3657600"/>
            <a:ext cx="3695700" cy="571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Cause vs correlation</a:t>
            </a:r>
            <a:endParaRPr/>
          </a:p>
        </p:txBody>
      </p:sp>
      <p:sp>
        <p:nvSpPr>
          <p:cNvPr id="250" name="Google Shape;250;p13"/>
          <p:cNvSpPr/>
          <p:nvPr/>
        </p:nvSpPr>
        <p:spPr>
          <a:xfrm>
            <a:off x="704850" y="4267200"/>
            <a:ext cx="2857500" cy="7239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3"/>
          <p:cNvSpPr/>
          <p:nvPr/>
        </p:nvSpPr>
        <p:spPr>
          <a:xfrm>
            <a:off x="819150" y="4381500"/>
            <a:ext cx="2628900" cy="571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Open items</a:t>
            </a:r>
            <a:endParaRPr/>
          </a:p>
        </p:txBody>
      </p:sp>
      <p:sp>
        <p:nvSpPr>
          <p:cNvPr id="252" name="Google Shape;252;p13"/>
          <p:cNvSpPr/>
          <p:nvPr/>
        </p:nvSpPr>
        <p:spPr>
          <a:xfrm>
            <a:off x="3562350" y="4267200"/>
            <a:ext cx="4000500" cy="7239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3"/>
          <p:cNvSpPr/>
          <p:nvPr/>
        </p:nvSpPr>
        <p:spPr>
          <a:xfrm>
            <a:off x="3676650" y="4381500"/>
            <a:ext cx="3771900" cy="571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Follow-up questions</a:t>
            </a:r>
            <a:endParaRPr/>
          </a:p>
        </p:txBody>
      </p:sp>
      <p:sp>
        <p:nvSpPr>
          <p:cNvPr id="254" name="Google Shape;254;p13"/>
          <p:cNvSpPr/>
          <p:nvPr/>
        </p:nvSpPr>
        <p:spPr>
          <a:xfrm>
            <a:off x="7562850" y="4267200"/>
            <a:ext cx="3924300" cy="7239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3"/>
          <p:cNvSpPr/>
          <p:nvPr/>
        </p:nvSpPr>
        <p:spPr>
          <a:xfrm>
            <a:off x="7677150" y="4381500"/>
            <a:ext cx="3695700" cy="5715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Owner and due date</a:t>
            </a:r>
            <a:endParaRPr/>
          </a:p>
        </p:txBody>
      </p:sp>
      <p:sp>
        <p:nvSpPr>
          <p:cNvPr id="256" name="Google Shape;256;p13"/>
          <p:cNvSpPr/>
          <p:nvPr/>
        </p:nvSpPr>
        <p:spPr>
          <a:xfrm>
            <a:off x="704850" y="6438900"/>
            <a:ext cx="5143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5B6470"/>
                </a:solidFill>
                <a:latin typeface="Arial"/>
                <a:ea typeface="Arial"/>
                <a:cs typeface="Arial"/>
                <a:sym typeface="Arial"/>
              </a:rPr>
              <a:t>Claude for </a:t>
            </a:r>
            <a:r>
              <a:rPr lang="en-US" sz="900">
                <a:solidFill>
                  <a:srgbClr val="5B6470"/>
                </a:solidFill>
              </a:rPr>
              <a:t>__</a:t>
            </a:r>
            <a:r>
              <a:rPr b="0" lang="en-US" sz="900">
                <a:solidFill>
                  <a:srgbClr val="5B6470"/>
                </a:solidFill>
                <a:latin typeface="Arial"/>
                <a:ea typeface="Arial"/>
                <a:cs typeface="Arial"/>
                <a:sym typeface="Arial"/>
              </a:rPr>
              <a:t> | July 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261" name="Shape 261"/>
        <p:cNvGrpSpPr/>
        <p:nvPr/>
      </p:nvGrpSpPr>
      <p:grpSpPr>
        <a:xfrm>
          <a:off x="0" y="0"/>
          <a:ext cx="0" cy="0"/>
          <a:chOff x="0" y="0"/>
          <a:chExt cx="0" cy="0"/>
        </a:xfrm>
      </p:grpSpPr>
      <p:sp>
        <p:nvSpPr>
          <p:cNvPr id="262" name="Google Shape;262;p14"/>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DOCUMENTS</a:t>
            </a:r>
            <a:endParaRPr/>
          </a:p>
        </p:txBody>
      </p:sp>
      <p:sp>
        <p:nvSpPr>
          <p:cNvPr id="263" name="Google Shape;263;p14"/>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Document Q&amp;A</a:t>
            </a:r>
            <a:endParaRPr/>
          </a:p>
        </p:txBody>
      </p:sp>
      <p:sp>
        <p:nvSpPr>
          <p:cNvPr id="264" name="Google Shape;264;p14"/>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4"/>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12</a:t>
            </a:r>
            <a:endParaRPr/>
          </a:p>
        </p:txBody>
      </p:sp>
      <p:sp>
        <p:nvSpPr>
          <p:cNvPr id="266" name="Google Shape;266;p14"/>
          <p:cNvSpPr/>
          <p:nvPr/>
        </p:nvSpPr>
        <p:spPr>
          <a:xfrm>
            <a:off x="704850" y="1676400"/>
            <a:ext cx="3454400" cy="21145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4"/>
          <p:cNvSpPr/>
          <p:nvPr/>
        </p:nvSpPr>
        <p:spPr>
          <a:xfrm>
            <a:off x="895350" y="1847850"/>
            <a:ext cx="30734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ASK</a:t>
            </a:r>
            <a:endParaRPr/>
          </a:p>
        </p:txBody>
      </p:sp>
      <p:sp>
        <p:nvSpPr>
          <p:cNvPr id="268" name="Google Shape;268;p14"/>
          <p:cNvSpPr/>
          <p:nvPr/>
        </p:nvSpPr>
        <p:spPr>
          <a:xfrm>
            <a:off x="895350" y="2105025"/>
            <a:ext cx="3073400"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Give a narrow question</a:t>
            </a:r>
            <a:endParaRPr/>
          </a:p>
        </p:txBody>
      </p:sp>
      <p:sp>
        <p:nvSpPr>
          <p:cNvPr id="269" name="Google Shape;269;p14"/>
          <p:cNvSpPr/>
          <p:nvPr/>
        </p:nvSpPr>
        <p:spPr>
          <a:xfrm>
            <a:off x="895350" y="2552700"/>
            <a:ext cx="3073400" cy="1047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Tell Claude exactly what to look for and what format to return.</a:t>
            </a:r>
            <a:endParaRPr/>
          </a:p>
        </p:txBody>
      </p:sp>
      <p:sp>
        <p:nvSpPr>
          <p:cNvPr id="270" name="Google Shape;270;p14"/>
          <p:cNvSpPr/>
          <p:nvPr/>
        </p:nvSpPr>
        <p:spPr>
          <a:xfrm>
            <a:off x="4368800" y="1676400"/>
            <a:ext cx="3454400" cy="21145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4"/>
          <p:cNvSpPr/>
          <p:nvPr/>
        </p:nvSpPr>
        <p:spPr>
          <a:xfrm>
            <a:off x="4559300" y="1847850"/>
            <a:ext cx="30734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CITE</a:t>
            </a:r>
            <a:endParaRPr/>
          </a:p>
        </p:txBody>
      </p:sp>
      <p:sp>
        <p:nvSpPr>
          <p:cNvPr id="272" name="Google Shape;272;p14"/>
          <p:cNvSpPr/>
          <p:nvPr/>
        </p:nvSpPr>
        <p:spPr>
          <a:xfrm>
            <a:off x="4559300" y="2105025"/>
            <a:ext cx="3073400"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Require source text</a:t>
            </a:r>
            <a:endParaRPr/>
          </a:p>
        </p:txBody>
      </p:sp>
      <p:sp>
        <p:nvSpPr>
          <p:cNvPr id="273" name="Google Shape;273;p14"/>
          <p:cNvSpPr/>
          <p:nvPr/>
        </p:nvSpPr>
        <p:spPr>
          <a:xfrm>
            <a:off x="4559300" y="2552700"/>
            <a:ext cx="3073400" cy="1047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Ask Claude to quote or cite the relevant passage before answering.</a:t>
            </a:r>
            <a:endParaRPr/>
          </a:p>
        </p:txBody>
      </p:sp>
      <p:sp>
        <p:nvSpPr>
          <p:cNvPr id="274" name="Google Shape;274;p14"/>
          <p:cNvSpPr/>
          <p:nvPr/>
        </p:nvSpPr>
        <p:spPr>
          <a:xfrm>
            <a:off x="8032750" y="1676400"/>
            <a:ext cx="3454400" cy="21145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4"/>
          <p:cNvSpPr/>
          <p:nvPr/>
        </p:nvSpPr>
        <p:spPr>
          <a:xfrm>
            <a:off x="8223250" y="1847850"/>
            <a:ext cx="30734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VERIFY</a:t>
            </a:r>
            <a:endParaRPr/>
          </a:p>
        </p:txBody>
      </p:sp>
      <p:sp>
        <p:nvSpPr>
          <p:cNvPr id="276" name="Google Shape;276;p14"/>
          <p:cNvSpPr/>
          <p:nvPr/>
        </p:nvSpPr>
        <p:spPr>
          <a:xfrm>
            <a:off x="8223250" y="2105025"/>
            <a:ext cx="3073400"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Check the answer</a:t>
            </a:r>
            <a:endParaRPr/>
          </a:p>
        </p:txBody>
      </p:sp>
      <p:sp>
        <p:nvSpPr>
          <p:cNvPr id="277" name="Google Shape;277;p14"/>
          <p:cNvSpPr/>
          <p:nvPr/>
        </p:nvSpPr>
        <p:spPr>
          <a:xfrm>
            <a:off x="8223250" y="2552700"/>
            <a:ext cx="3073400" cy="1047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Look back at the source before using the response in real work.</a:t>
            </a:r>
            <a:endParaRPr/>
          </a:p>
        </p:txBody>
      </p:sp>
      <p:sp>
        <p:nvSpPr>
          <p:cNvPr id="278" name="Google Shape;278;p14"/>
          <p:cNvSpPr/>
          <p:nvPr/>
        </p:nvSpPr>
        <p:spPr>
          <a:xfrm>
            <a:off x="1714500" y="4305300"/>
            <a:ext cx="8763000" cy="1066800"/>
          </a:xfrm>
          <a:prstGeom prst="rect">
            <a:avLst/>
          </a:prstGeom>
          <a:solidFill>
            <a:srgbClr val="F3EBD8"/>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4"/>
          <p:cNvSpPr/>
          <p:nvPr/>
        </p:nvSpPr>
        <p:spPr>
          <a:xfrm>
            <a:off x="1905000" y="4514850"/>
            <a:ext cx="8382000"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Follow-along prompt</a:t>
            </a:r>
            <a:endParaRPr/>
          </a:p>
        </p:txBody>
      </p:sp>
      <p:sp>
        <p:nvSpPr>
          <p:cNvPr id="280" name="Google Shape;280;p14"/>
          <p:cNvSpPr/>
          <p:nvPr/>
        </p:nvSpPr>
        <p:spPr>
          <a:xfrm>
            <a:off x="1905000" y="4972050"/>
            <a:ext cx="8382000" cy="323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Answer only from the document. Quote the source text first. If the answer is not in the document, say not found.</a:t>
            </a:r>
            <a:endParaRPr/>
          </a:p>
        </p:txBody>
      </p:sp>
      <p:sp>
        <p:nvSpPr>
          <p:cNvPr id="281" name="Google Shape;281;p14"/>
          <p:cNvSpPr/>
          <p:nvPr/>
        </p:nvSpPr>
        <p:spPr>
          <a:xfrm>
            <a:off x="704850" y="6438900"/>
            <a:ext cx="5143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5B6470"/>
                </a:solidFill>
                <a:latin typeface="Arial"/>
                <a:ea typeface="Arial"/>
                <a:cs typeface="Arial"/>
                <a:sym typeface="Arial"/>
              </a:rPr>
              <a:t>Claude for </a:t>
            </a:r>
            <a:r>
              <a:rPr lang="en-US" sz="900">
                <a:solidFill>
                  <a:srgbClr val="5B6470"/>
                </a:solidFill>
              </a:rPr>
              <a:t>__</a:t>
            </a:r>
            <a:r>
              <a:rPr b="0" lang="en-US" sz="900">
                <a:solidFill>
                  <a:srgbClr val="5B6470"/>
                </a:solidFill>
                <a:latin typeface="Arial"/>
                <a:ea typeface="Arial"/>
                <a:cs typeface="Arial"/>
                <a:sym typeface="Arial"/>
              </a:rPr>
              <a:t> | July 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286" name="Shape 286"/>
        <p:cNvGrpSpPr/>
        <p:nvPr/>
      </p:nvGrpSpPr>
      <p:grpSpPr>
        <a:xfrm>
          <a:off x="0" y="0"/>
          <a:ext cx="0" cy="0"/>
          <a:chOff x="0" y="0"/>
          <a:chExt cx="0" cy="0"/>
        </a:xfrm>
      </p:grpSpPr>
      <p:sp>
        <p:nvSpPr>
          <p:cNvPr id="287" name="Google Shape;287;p15"/>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MODELS</a:t>
            </a:r>
            <a:endParaRPr/>
          </a:p>
        </p:txBody>
      </p:sp>
      <p:sp>
        <p:nvSpPr>
          <p:cNvPr id="288" name="Google Shape;288;p15"/>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Models</a:t>
            </a:r>
            <a:endParaRPr/>
          </a:p>
        </p:txBody>
      </p:sp>
      <p:sp>
        <p:nvSpPr>
          <p:cNvPr id="289" name="Google Shape;289;p15"/>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5"/>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13</a:t>
            </a:r>
            <a:endParaRPr/>
          </a:p>
        </p:txBody>
      </p:sp>
      <p:sp>
        <p:nvSpPr>
          <p:cNvPr id="291" name="Google Shape;291;p15"/>
          <p:cNvSpPr/>
          <p:nvPr/>
        </p:nvSpPr>
        <p:spPr>
          <a:xfrm>
            <a:off x="895350" y="1790700"/>
            <a:ext cx="1714500" cy="400050"/>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5"/>
          <p:cNvSpPr/>
          <p:nvPr/>
        </p:nvSpPr>
        <p:spPr>
          <a:xfrm>
            <a:off x="1009650" y="1885950"/>
            <a:ext cx="148590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Model</a:t>
            </a:r>
            <a:endParaRPr/>
          </a:p>
        </p:txBody>
      </p:sp>
      <p:sp>
        <p:nvSpPr>
          <p:cNvPr id="293" name="Google Shape;293;p15"/>
          <p:cNvSpPr/>
          <p:nvPr/>
        </p:nvSpPr>
        <p:spPr>
          <a:xfrm>
            <a:off x="2609850" y="1790700"/>
            <a:ext cx="2857500" cy="400050"/>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5"/>
          <p:cNvSpPr/>
          <p:nvPr/>
        </p:nvSpPr>
        <p:spPr>
          <a:xfrm>
            <a:off x="2724150" y="1885950"/>
            <a:ext cx="262890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Best fit</a:t>
            </a:r>
            <a:endParaRPr/>
          </a:p>
        </p:txBody>
      </p:sp>
      <p:sp>
        <p:nvSpPr>
          <p:cNvPr id="295" name="Google Shape;295;p15"/>
          <p:cNvSpPr/>
          <p:nvPr/>
        </p:nvSpPr>
        <p:spPr>
          <a:xfrm>
            <a:off x="5467350" y="1790700"/>
            <a:ext cx="5829300" cy="400050"/>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5"/>
          <p:cNvSpPr/>
          <p:nvPr/>
        </p:nvSpPr>
        <p:spPr>
          <a:xfrm>
            <a:off x="5581650" y="1885950"/>
            <a:ext cx="560070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Use when</a:t>
            </a:r>
            <a:endParaRPr/>
          </a:p>
        </p:txBody>
      </p:sp>
      <p:sp>
        <p:nvSpPr>
          <p:cNvPr id="297" name="Google Shape;297;p15"/>
          <p:cNvSpPr/>
          <p:nvPr/>
        </p:nvSpPr>
        <p:spPr>
          <a:xfrm>
            <a:off x="895350" y="2190750"/>
            <a:ext cx="1714500" cy="9144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5"/>
          <p:cNvSpPr/>
          <p:nvPr/>
        </p:nvSpPr>
        <p:spPr>
          <a:xfrm>
            <a:off x="1009650" y="2305050"/>
            <a:ext cx="1485900" cy="7620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Haiku</a:t>
            </a:r>
            <a:endParaRPr/>
          </a:p>
        </p:txBody>
      </p:sp>
      <p:sp>
        <p:nvSpPr>
          <p:cNvPr id="299" name="Google Shape;299;p15"/>
          <p:cNvSpPr/>
          <p:nvPr/>
        </p:nvSpPr>
        <p:spPr>
          <a:xfrm>
            <a:off x="2609850" y="2190750"/>
            <a:ext cx="2857500" cy="9144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5"/>
          <p:cNvSpPr/>
          <p:nvPr/>
        </p:nvSpPr>
        <p:spPr>
          <a:xfrm>
            <a:off x="2724150" y="2305050"/>
            <a:ext cx="2628900" cy="7620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Fast and lighter</a:t>
            </a:r>
            <a:endParaRPr/>
          </a:p>
        </p:txBody>
      </p:sp>
      <p:sp>
        <p:nvSpPr>
          <p:cNvPr id="301" name="Google Shape;301;p15"/>
          <p:cNvSpPr/>
          <p:nvPr/>
        </p:nvSpPr>
        <p:spPr>
          <a:xfrm>
            <a:off x="5467350" y="2190750"/>
            <a:ext cx="5829300" cy="9144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5"/>
          <p:cNvSpPr/>
          <p:nvPr/>
        </p:nvSpPr>
        <p:spPr>
          <a:xfrm>
            <a:off x="5581650" y="2305050"/>
            <a:ext cx="5600700" cy="7620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Simple drafting, quick cleanup, high-volume routine tasks.</a:t>
            </a:r>
            <a:endParaRPr/>
          </a:p>
        </p:txBody>
      </p:sp>
      <p:sp>
        <p:nvSpPr>
          <p:cNvPr id="303" name="Google Shape;303;p15"/>
          <p:cNvSpPr/>
          <p:nvPr/>
        </p:nvSpPr>
        <p:spPr>
          <a:xfrm>
            <a:off x="895350" y="3105150"/>
            <a:ext cx="1714500" cy="9144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5"/>
          <p:cNvSpPr/>
          <p:nvPr/>
        </p:nvSpPr>
        <p:spPr>
          <a:xfrm>
            <a:off x="1009650" y="3219450"/>
            <a:ext cx="1485900" cy="7620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Sonnet</a:t>
            </a:r>
            <a:endParaRPr/>
          </a:p>
        </p:txBody>
      </p:sp>
      <p:sp>
        <p:nvSpPr>
          <p:cNvPr id="305" name="Google Shape;305;p15"/>
          <p:cNvSpPr/>
          <p:nvPr/>
        </p:nvSpPr>
        <p:spPr>
          <a:xfrm>
            <a:off x="2609850" y="3105150"/>
            <a:ext cx="2857500" cy="9144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5"/>
          <p:cNvSpPr/>
          <p:nvPr/>
        </p:nvSpPr>
        <p:spPr>
          <a:xfrm>
            <a:off x="2724150" y="3219450"/>
            <a:ext cx="2628900" cy="7620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Everyday workhorse</a:t>
            </a:r>
            <a:endParaRPr/>
          </a:p>
        </p:txBody>
      </p:sp>
      <p:sp>
        <p:nvSpPr>
          <p:cNvPr id="307" name="Google Shape;307;p15"/>
          <p:cNvSpPr/>
          <p:nvPr/>
        </p:nvSpPr>
        <p:spPr>
          <a:xfrm>
            <a:off x="5467350" y="3105150"/>
            <a:ext cx="5829300" cy="9144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5"/>
          <p:cNvSpPr/>
          <p:nvPr/>
        </p:nvSpPr>
        <p:spPr>
          <a:xfrm>
            <a:off x="5581650" y="3219450"/>
            <a:ext cx="5600700" cy="7620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Most summaries, analysis, document Q&amp;A, and business writing.</a:t>
            </a:r>
            <a:endParaRPr/>
          </a:p>
        </p:txBody>
      </p:sp>
      <p:sp>
        <p:nvSpPr>
          <p:cNvPr id="309" name="Google Shape;309;p15"/>
          <p:cNvSpPr/>
          <p:nvPr/>
        </p:nvSpPr>
        <p:spPr>
          <a:xfrm>
            <a:off x="895350" y="4019550"/>
            <a:ext cx="1714500" cy="9144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5"/>
          <p:cNvSpPr/>
          <p:nvPr/>
        </p:nvSpPr>
        <p:spPr>
          <a:xfrm>
            <a:off x="1009650" y="4133850"/>
            <a:ext cx="1485900" cy="7620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Opus</a:t>
            </a:r>
            <a:endParaRPr/>
          </a:p>
        </p:txBody>
      </p:sp>
      <p:sp>
        <p:nvSpPr>
          <p:cNvPr id="311" name="Google Shape;311;p15"/>
          <p:cNvSpPr/>
          <p:nvPr/>
        </p:nvSpPr>
        <p:spPr>
          <a:xfrm>
            <a:off x="2609850" y="4019550"/>
            <a:ext cx="2857500" cy="9144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5"/>
          <p:cNvSpPr/>
          <p:nvPr/>
        </p:nvSpPr>
        <p:spPr>
          <a:xfrm>
            <a:off x="2724150" y="4133850"/>
            <a:ext cx="2628900" cy="7620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Hardest work</a:t>
            </a:r>
            <a:endParaRPr/>
          </a:p>
        </p:txBody>
      </p:sp>
      <p:sp>
        <p:nvSpPr>
          <p:cNvPr id="313" name="Google Shape;313;p15"/>
          <p:cNvSpPr/>
          <p:nvPr/>
        </p:nvSpPr>
        <p:spPr>
          <a:xfrm>
            <a:off x="5467350" y="4019550"/>
            <a:ext cx="5829300" cy="9144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5"/>
          <p:cNvSpPr/>
          <p:nvPr/>
        </p:nvSpPr>
        <p:spPr>
          <a:xfrm>
            <a:off x="5581650" y="4133850"/>
            <a:ext cx="5600700" cy="7620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Complex documents, tougher reasoning, high-stakes drafts.</a:t>
            </a:r>
            <a:endParaRPr/>
          </a:p>
        </p:txBody>
      </p:sp>
      <p:sp>
        <p:nvSpPr>
          <p:cNvPr id="315" name="Google Shape;315;p15"/>
          <p:cNvSpPr/>
          <p:nvPr/>
        </p:nvSpPr>
        <p:spPr>
          <a:xfrm>
            <a:off x="704850" y="6438900"/>
            <a:ext cx="5143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5B6470"/>
                </a:solidFill>
                <a:latin typeface="Arial"/>
                <a:ea typeface="Arial"/>
                <a:cs typeface="Arial"/>
                <a:sym typeface="Arial"/>
              </a:rPr>
              <a:t>Claude for </a:t>
            </a:r>
            <a:r>
              <a:rPr lang="en-US" sz="900">
                <a:solidFill>
                  <a:srgbClr val="5B6470"/>
                </a:solidFill>
              </a:rPr>
              <a:t>__</a:t>
            </a:r>
            <a:r>
              <a:rPr b="0" lang="en-US" sz="900">
                <a:solidFill>
                  <a:srgbClr val="5B6470"/>
                </a:solidFill>
                <a:latin typeface="Arial"/>
                <a:ea typeface="Arial"/>
                <a:cs typeface="Arial"/>
                <a:sym typeface="Arial"/>
              </a:rPr>
              <a:t> | July 1</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320" name="Shape 320"/>
        <p:cNvGrpSpPr/>
        <p:nvPr/>
      </p:nvGrpSpPr>
      <p:grpSpPr>
        <a:xfrm>
          <a:off x="0" y="0"/>
          <a:ext cx="0" cy="0"/>
          <a:chOff x="0" y="0"/>
          <a:chExt cx="0" cy="0"/>
        </a:xfrm>
      </p:grpSpPr>
      <p:sp>
        <p:nvSpPr>
          <p:cNvPr id="321" name="Google Shape;321;p16"/>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EFFORT</a:t>
            </a:r>
            <a:endParaRPr/>
          </a:p>
        </p:txBody>
      </p:sp>
      <p:sp>
        <p:nvSpPr>
          <p:cNvPr id="322" name="Google Shape;322;p16"/>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Effort Levels</a:t>
            </a:r>
            <a:endParaRPr/>
          </a:p>
        </p:txBody>
      </p:sp>
      <p:sp>
        <p:nvSpPr>
          <p:cNvPr id="323" name="Google Shape;323;p16"/>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6"/>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14</a:t>
            </a:r>
            <a:endParaRPr/>
          </a:p>
        </p:txBody>
      </p:sp>
      <p:sp>
        <p:nvSpPr>
          <p:cNvPr id="325" name="Google Shape;325;p16"/>
          <p:cNvSpPr/>
          <p:nvPr/>
        </p:nvSpPr>
        <p:spPr>
          <a:xfrm>
            <a:off x="704850" y="1695450"/>
            <a:ext cx="2000250" cy="400050"/>
          </a:xfrm>
          <a:prstGeom prst="rect">
            <a:avLst/>
          </a:prstGeom>
          <a:solidFill>
            <a:srgbClr val="254F7A"/>
          </a:solidFill>
          <a:ln cap="flat" cmpd="sng" w="9525">
            <a:solidFill>
              <a:srgbClr val="254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6"/>
          <p:cNvSpPr/>
          <p:nvPr/>
        </p:nvSpPr>
        <p:spPr>
          <a:xfrm>
            <a:off x="819150" y="1790700"/>
            <a:ext cx="177165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Effort</a:t>
            </a:r>
            <a:endParaRPr/>
          </a:p>
        </p:txBody>
      </p:sp>
      <p:sp>
        <p:nvSpPr>
          <p:cNvPr id="327" name="Google Shape;327;p16"/>
          <p:cNvSpPr/>
          <p:nvPr/>
        </p:nvSpPr>
        <p:spPr>
          <a:xfrm>
            <a:off x="2705100" y="1695450"/>
            <a:ext cx="4476750" cy="400050"/>
          </a:xfrm>
          <a:prstGeom prst="rect">
            <a:avLst/>
          </a:prstGeom>
          <a:solidFill>
            <a:srgbClr val="254F7A"/>
          </a:solidFill>
          <a:ln cap="flat" cmpd="sng" w="9525">
            <a:solidFill>
              <a:srgbClr val="254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6"/>
          <p:cNvSpPr/>
          <p:nvPr/>
        </p:nvSpPr>
        <p:spPr>
          <a:xfrm>
            <a:off x="2819400" y="1790700"/>
            <a:ext cx="424815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Good for</a:t>
            </a:r>
            <a:endParaRPr/>
          </a:p>
        </p:txBody>
      </p:sp>
      <p:sp>
        <p:nvSpPr>
          <p:cNvPr id="329" name="Google Shape;329;p16"/>
          <p:cNvSpPr/>
          <p:nvPr/>
        </p:nvSpPr>
        <p:spPr>
          <a:xfrm>
            <a:off x="7181850" y="1695450"/>
            <a:ext cx="4305300" cy="400050"/>
          </a:xfrm>
          <a:prstGeom prst="rect">
            <a:avLst/>
          </a:prstGeom>
          <a:solidFill>
            <a:srgbClr val="254F7A"/>
          </a:solidFill>
          <a:ln cap="flat" cmpd="sng" w="9525">
            <a:solidFill>
              <a:srgbClr val="254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6"/>
          <p:cNvSpPr/>
          <p:nvPr/>
        </p:nvSpPr>
        <p:spPr>
          <a:xfrm>
            <a:off x="7296150" y="1790700"/>
            <a:ext cx="407670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Watch-out</a:t>
            </a:r>
            <a:endParaRPr/>
          </a:p>
        </p:txBody>
      </p:sp>
      <p:sp>
        <p:nvSpPr>
          <p:cNvPr id="331" name="Google Shape;331;p16"/>
          <p:cNvSpPr/>
          <p:nvPr/>
        </p:nvSpPr>
        <p:spPr>
          <a:xfrm>
            <a:off x="704850" y="2095500"/>
            <a:ext cx="2000250" cy="7048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6"/>
          <p:cNvSpPr/>
          <p:nvPr/>
        </p:nvSpPr>
        <p:spPr>
          <a:xfrm>
            <a:off x="819150" y="2209800"/>
            <a:ext cx="17716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Low</a:t>
            </a:r>
            <a:endParaRPr/>
          </a:p>
        </p:txBody>
      </p:sp>
      <p:sp>
        <p:nvSpPr>
          <p:cNvPr id="333" name="Google Shape;333;p16"/>
          <p:cNvSpPr/>
          <p:nvPr/>
        </p:nvSpPr>
        <p:spPr>
          <a:xfrm>
            <a:off x="2705100" y="2095500"/>
            <a:ext cx="4476750" cy="7048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6"/>
          <p:cNvSpPr/>
          <p:nvPr/>
        </p:nvSpPr>
        <p:spPr>
          <a:xfrm>
            <a:off x="2819400" y="2209800"/>
            <a:ext cx="42481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Quick, simple work</a:t>
            </a:r>
            <a:endParaRPr/>
          </a:p>
        </p:txBody>
      </p:sp>
      <p:sp>
        <p:nvSpPr>
          <p:cNvPr id="335" name="Google Shape;335;p16"/>
          <p:cNvSpPr/>
          <p:nvPr/>
        </p:nvSpPr>
        <p:spPr>
          <a:xfrm>
            <a:off x="7181850" y="2095500"/>
            <a:ext cx="4305300" cy="7048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6"/>
          <p:cNvSpPr/>
          <p:nvPr/>
        </p:nvSpPr>
        <p:spPr>
          <a:xfrm>
            <a:off x="7296150" y="2209800"/>
            <a:ext cx="407670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May be too shallow for messy questions.</a:t>
            </a:r>
            <a:endParaRPr/>
          </a:p>
        </p:txBody>
      </p:sp>
      <p:sp>
        <p:nvSpPr>
          <p:cNvPr id="337" name="Google Shape;337;p16"/>
          <p:cNvSpPr/>
          <p:nvPr/>
        </p:nvSpPr>
        <p:spPr>
          <a:xfrm>
            <a:off x="704850" y="2800350"/>
            <a:ext cx="2000250" cy="7048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6"/>
          <p:cNvSpPr/>
          <p:nvPr/>
        </p:nvSpPr>
        <p:spPr>
          <a:xfrm>
            <a:off x="819150" y="2914650"/>
            <a:ext cx="17716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Medium</a:t>
            </a:r>
            <a:endParaRPr/>
          </a:p>
        </p:txBody>
      </p:sp>
      <p:sp>
        <p:nvSpPr>
          <p:cNvPr id="339" name="Google Shape;339;p16"/>
          <p:cNvSpPr/>
          <p:nvPr/>
        </p:nvSpPr>
        <p:spPr>
          <a:xfrm>
            <a:off x="2705100" y="2800350"/>
            <a:ext cx="4476750" cy="7048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6"/>
          <p:cNvSpPr/>
          <p:nvPr/>
        </p:nvSpPr>
        <p:spPr>
          <a:xfrm>
            <a:off x="2819400" y="2914650"/>
            <a:ext cx="42481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Balanced routine work</a:t>
            </a:r>
            <a:endParaRPr/>
          </a:p>
        </p:txBody>
      </p:sp>
      <p:sp>
        <p:nvSpPr>
          <p:cNvPr id="341" name="Google Shape;341;p16"/>
          <p:cNvSpPr/>
          <p:nvPr/>
        </p:nvSpPr>
        <p:spPr>
          <a:xfrm>
            <a:off x="7181850" y="2800350"/>
            <a:ext cx="4305300" cy="7048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6"/>
          <p:cNvSpPr/>
          <p:nvPr/>
        </p:nvSpPr>
        <p:spPr>
          <a:xfrm>
            <a:off x="7296150" y="2914650"/>
            <a:ext cx="407670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Good starting point when available.</a:t>
            </a:r>
            <a:endParaRPr/>
          </a:p>
        </p:txBody>
      </p:sp>
      <p:sp>
        <p:nvSpPr>
          <p:cNvPr id="343" name="Google Shape;343;p16"/>
          <p:cNvSpPr/>
          <p:nvPr/>
        </p:nvSpPr>
        <p:spPr>
          <a:xfrm>
            <a:off x="704850" y="3505200"/>
            <a:ext cx="2000250" cy="7048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6"/>
          <p:cNvSpPr/>
          <p:nvPr/>
        </p:nvSpPr>
        <p:spPr>
          <a:xfrm>
            <a:off x="819150" y="3619500"/>
            <a:ext cx="17716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High</a:t>
            </a:r>
            <a:endParaRPr/>
          </a:p>
        </p:txBody>
      </p:sp>
      <p:sp>
        <p:nvSpPr>
          <p:cNvPr id="345" name="Google Shape;345;p16"/>
          <p:cNvSpPr/>
          <p:nvPr/>
        </p:nvSpPr>
        <p:spPr>
          <a:xfrm>
            <a:off x="2705100" y="3505200"/>
            <a:ext cx="4476750" cy="7048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6"/>
          <p:cNvSpPr/>
          <p:nvPr/>
        </p:nvSpPr>
        <p:spPr>
          <a:xfrm>
            <a:off x="2819400" y="3619500"/>
            <a:ext cx="42481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Complex analysis</a:t>
            </a:r>
            <a:endParaRPr/>
          </a:p>
        </p:txBody>
      </p:sp>
      <p:sp>
        <p:nvSpPr>
          <p:cNvPr id="347" name="Google Shape;347;p16"/>
          <p:cNvSpPr/>
          <p:nvPr/>
        </p:nvSpPr>
        <p:spPr>
          <a:xfrm>
            <a:off x="7181850" y="3505200"/>
            <a:ext cx="4305300" cy="7048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6"/>
          <p:cNvSpPr/>
          <p:nvPr/>
        </p:nvSpPr>
        <p:spPr>
          <a:xfrm>
            <a:off x="7296150" y="3619500"/>
            <a:ext cx="407670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More thorough, usually more usage.</a:t>
            </a:r>
            <a:endParaRPr/>
          </a:p>
        </p:txBody>
      </p:sp>
      <p:sp>
        <p:nvSpPr>
          <p:cNvPr id="349" name="Google Shape;349;p16"/>
          <p:cNvSpPr/>
          <p:nvPr/>
        </p:nvSpPr>
        <p:spPr>
          <a:xfrm>
            <a:off x="704850" y="4210050"/>
            <a:ext cx="2000250" cy="7048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6"/>
          <p:cNvSpPr/>
          <p:nvPr/>
        </p:nvSpPr>
        <p:spPr>
          <a:xfrm>
            <a:off x="819150" y="4324350"/>
            <a:ext cx="17716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xhigh / max</a:t>
            </a:r>
            <a:endParaRPr/>
          </a:p>
        </p:txBody>
      </p:sp>
      <p:sp>
        <p:nvSpPr>
          <p:cNvPr id="351" name="Google Shape;351;p16"/>
          <p:cNvSpPr/>
          <p:nvPr/>
        </p:nvSpPr>
        <p:spPr>
          <a:xfrm>
            <a:off x="2705100" y="4210050"/>
            <a:ext cx="4476750" cy="7048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6"/>
          <p:cNvSpPr/>
          <p:nvPr/>
        </p:nvSpPr>
        <p:spPr>
          <a:xfrm>
            <a:off x="2819400" y="4324350"/>
            <a:ext cx="42481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Long, difficult work</a:t>
            </a:r>
            <a:endParaRPr/>
          </a:p>
        </p:txBody>
      </p:sp>
      <p:sp>
        <p:nvSpPr>
          <p:cNvPr id="353" name="Google Shape;353;p16"/>
          <p:cNvSpPr/>
          <p:nvPr/>
        </p:nvSpPr>
        <p:spPr>
          <a:xfrm>
            <a:off x="7181850" y="4210050"/>
            <a:ext cx="4305300" cy="7048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6"/>
          <p:cNvSpPr/>
          <p:nvPr/>
        </p:nvSpPr>
        <p:spPr>
          <a:xfrm>
            <a:off x="7296150" y="4324350"/>
            <a:ext cx="407670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Use only when the extra depth matters.</a:t>
            </a:r>
            <a:endParaRPr/>
          </a:p>
        </p:txBody>
      </p:sp>
      <p:sp>
        <p:nvSpPr>
          <p:cNvPr id="355" name="Google Shape;355;p16"/>
          <p:cNvSpPr/>
          <p:nvPr/>
        </p:nvSpPr>
        <p:spPr>
          <a:xfrm>
            <a:off x="704850" y="6438900"/>
            <a:ext cx="5143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5B6470"/>
                </a:solidFill>
                <a:latin typeface="Arial"/>
                <a:ea typeface="Arial"/>
                <a:cs typeface="Arial"/>
                <a:sym typeface="Arial"/>
              </a:rPr>
              <a:t>Claude for </a:t>
            </a:r>
            <a:r>
              <a:rPr lang="en-US" sz="900">
                <a:solidFill>
                  <a:srgbClr val="5B6470"/>
                </a:solidFill>
              </a:rPr>
              <a:t>__</a:t>
            </a:r>
            <a:r>
              <a:rPr b="0" lang="en-US" sz="900">
                <a:solidFill>
                  <a:srgbClr val="5B6470"/>
                </a:solidFill>
                <a:latin typeface="Arial"/>
                <a:ea typeface="Arial"/>
                <a:cs typeface="Arial"/>
                <a:sym typeface="Arial"/>
              </a:rPr>
              <a:t> | July 1</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360" name="Shape 360"/>
        <p:cNvGrpSpPr/>
        <p:nvPr/>
      </p:nvGrpSpPr>
      <p:grpSpPr>
        <a:xfrm>
          <a:off x="0" y="0"/>
          <a:ext cx="0" cy="0"/>
          <a:chOff x="0" y="0"/>
          <a:chExt cx="0" cy="0"/>
        </a:xfrm>
      </p:grpSpPr>
      <p:sp>
        <p:nvSpPr>
          <p:cNvPr id="361" name="Google Shape;361;p17"/>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REUSE</a:t>
            </a:r>
            <a:endParaRPr/>
          </a:p>
        </p:txBody>
      </p:sp>
      <p:sp>
        <p:nvSpPr>
          <p:cNvPr id="362" name="Google Shape;362;p17"/>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Projects &amp; Skills</a:t>
            </a:r>
            <a:endParaRPr/>
          </a:p>
        </p:txBody>
      </p:sp>
      <p:sp>
        <p:nvSpPr>
          <p:cNvPr id="363" name="Google Shape;363;p17"/>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7"/>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15</a:t>
            </a:r>
            <a:endParaRPr/>
          </a:p>
        </p:txBody>
      </p:sp>
      <p:sp>
        <p:nvSpPr>
          <p:cNvPr id="365" name="Google Shape;365;p17"/>
          <p:cNvSpPr/>
          <p:nvPr/>
        </p:nvSpPr>
        <p:spPr>
          <a:xfrm>
            <a:off x="704850" y="1695450"/>
            <a:ext cx="3454400" cy="23812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7"/>
          <p:cNvSpPr/>
          <p:nvPr/>
        </p:nvSpPr>
        <p:spPr>
          <a:xfrm>
            <a:off x="895350" y="1866900"/>
            <a:ext cx="30734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PROJECTS</a:t>
            </a:r>
            <a:endParaRPr/>
          </a:p>
        </p:txBody>
      </p:sp>
      <p:sp>
        <p:nvSpPr>
          <p:cNvPr id="367" name="Google Shape;367;p17"/>
          <p:cNvSpPr/>
          <p:nvPr/>
        </p:nvSpPr>
        <p:spPr>
          <a:xfrm>
            <a:off x="895350" y="2124075"/>
            <a:ext cx="3073400"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A workspace for a topic</a:t>
            </a:r>
            <a:endParaRPr/>
          </a:p>
        </p:txBody>
      </p:sp>
      <p:sp>
        <p:nvSpPr>
          <p:cNvPr id="368" name="Google Shape;368;p17"/>
          <p:cNvSpPr/>
          <p:nvPr/>
        </p:nvSpPr>
        <p:spPr>
          <a:xfrm>
            <a:off x="895350" y="2571750"/>
            <a:ext cx="3073400" cy="1314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Keep instructions, chats, and reference material together for repeat work.</a:t>
            </a:r>
            <a:endParaRPr/>
          </a:p>
        </p:txBody>
      </p:sp>
      <p:sp>
        <p:nvSpPr>
          <p:cNvPr id="369" name="Google Shape;369;p17"/>
          <p:cNvSpPr/>
          <p:nvPr/>
        </p:nvSpPr>
        <p:spPr>
          <a:xfrm>
            <a:off x="4368800" y="1695450"/>
            <a:ext cx="3454400" cy="23812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7"/>
          <p:cNvSpPr/>
          <p:nvPr/>
        </p:nvSpPr>
        <p:spPr>
          <a:xfrm>
            <a:off x="4559300" y="1866900"/>
            <a:ext cx="30734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SKILLS</a:t>
            </a:r>
            <a:endParaRPr/>
          </a:p>
        </p:txBody>
      </p:sp>
      <p:sp>
        <p:nvSpPr>
          <p:cNvPr id="371" name="Google Shape;371;p17"/>
          <p:cNvSpPr/>
          <p:nvPr/>
        </p:nvSpPr>
        <p:spPr>
          <a:xfrm>
            <a:off x="4559300" y="2124075"/>
            <a:ext cx="3073400"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A repeatable way to do a task</a:t>
            </a:r>
            <a:endParaRPr/>
          </a:p>
        </p:txBody>
      </p:sp>
      <p:sp>
        <p:nvSpPr>
          <p:cNvPr id="372" name="Google Shape;372;p17"/>
          <p:cNvSpPr/>
          <p:nvPr/>
        </p:nvSpPr>
        <p:spPr>
          <a:xfrm>
            <a:off x="4559300" y="2571750"/>
            <a:ext cx="3073400" cy="1314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Instructions and resources Claude can apply when the task matches.</a:t>
            </a:r>
            <a:endParaRPr/>
          </a:p>
        </p:txBody>
      </p:sp>
      <p:sp>
        <p:nvSpPr>
          <p:cNvPr id="373" name="Google Shape;373;p17"/>
          <p:cNvSpPr/>
          <p:nvPr/>
        </p:nvSpPr>
        <p:spPr>
          <a:xfrm>
            <a:off x="8032750" y="1695450"/>
            <a:ext cx="3454400" cy="2381250"/>
          </a:xfrm>
          <a:prstGeom prst="rect">
            <a:avLst/>
          </a:prstGeom>
          <a:solidFill>
            <a:srgbClr val="E7F0EC"/>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7"/>
          <p:cNvSpPr/>
          <p:nvPr/>
        </p:nvSpPr>
        <p:spPr>
          <a:xfrm>
            <a:off x="8223250" y="1866900"/>
            <a:ext cx="30734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EXAMPLE</a:t>
            </a:r>
            <a:endParaRPr/>
          </a:p>
        </p:txBody>
      </p:sp>
      <p:sp>
        <p:nvSpPr>
          <p:cNvPr id="375" name="Google Shape;375;p17"/>
          <p:cNvSpPr/>
          <p:nvPr/>
        </p:nvSpPr>
        <p:spPr>
          <a:xfrm>
            <a:off x="8223250" y="2124075"/>
            <a:ext cx="3073400"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Business narrative helper</a:t>
            </a:r>
            <a:endParaRPr/>
          </a:p>
        </p:txBody>
      </p:sp>
      <p:sp>
        <p:nvSpPr>
          <p:cNvPr id="376" name="Google Shape;376;p17"/>
          <p:cNvSpPr/>
          <p:nvPr/>
        </p:nvSpPr>
        <p:spPr>
          <a:xfrm>
            <a:off x="8223250" y="2571750"/>
            <a:ext cx="3073400" cy="1314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Standard wording rules, source checks, follow-up questions, and output format.</a:t>
            </a:r>
            <a:endParaRPr/>
          </a:p>
        </p:txBody>
      </p:sp>
      <p:sp>
        <p:nvSpPr>
          <p:cNvPr id="377" name="Google Shape;377;p17"/>
          <p:cNvSpPr/>
          <p:nvPr/>
        </p:nvSpPr>
        <p:spPr>
          <a:xfrm>
            <a:off x="704850" y="6438900"/>
            <a:ext cx="5143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5B6470"/>
                </a:solidFill>
                <a:latin typeface="Arial"/>
                <a:ea typeface="Arial"/>
                <a:cs typeface="Arial"/>
                <a:sym typeface="Arial"/>
              </a:rPr>
              <a:t>Claude for </a:t>
            </a:r>
            <a:r>
              <a:rPr lang="en-US" sz="900">
                <a:solidFill>
                  <a:srgbClr val="5B6470"/>
                </a:solidFill>
              </a:rPr>
              <a:t>__</a:t>
            </a:r>
            <a:r>
              <a:rPr b="0" lang="en-US" sz="900">
                <a:solidFill>
                  <a:srgbClr val="5B6470"/>
                </a:solidFill>
                <a:latin typeface="Arial"/>
                <a:ea typeface="Arial"/>
                <a:cs typeface="Arial"/>
                <a:sym typeface="Arial"/>
              </a:rPr>
              <a:t> | July 1</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382" name="Shape 382"/>
        <p:cNvGrpSpPr/>
        <p:nvPr/>
      </p:nvGrpSpPr>
      <p:grpSpPr>
        <a:xfrm>
          <a:off x="0" y="0"/>
          <a:ext cx="0" cy="0"/>
          <a:chOff x="0" y="0"/>
          <a:chExt cx="0" cy="0"/>
        </a:xfrm>
      </p:grpSpPr>
      <p:sp>
        <p:nvSpPr>
          <p:cNvPr id="383" name="Google Shape;383;p18"/>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TOOL CHOICE</a:t>
            </a:r>
            <a:endParaRPr/>
          </a:p>
        </p:txBody>
      </p:sp>
      <p:sp>
        <p:nvSpPr>
          <p:cNvPr id="384" name="Google Shape;384;p18"/>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Tool Comparison</a:t>
            </a:r>
            <a:endParaRPr/>
          </a:p>
        </p:txBody>
      </p:sp>
      <p:sp>
        <p:nvSpPr>
          <p:cNvPr id="385" name="Google Shape;385;p18"/>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8"/>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16</a:t>
            </a:r>
            <a:endParaRPr/>
          </a:p>
        </p:txBody>
      </p:sp>
      <p:sp>
        <p:nvSpPr>
          <p:cNvPr id="387" name="Google Shape;387;p18"/>
          <p:cNvSpPr/>
          <p:nvPr/>
        </p:nvSpPr>
        <p:spPr>
          <a:xfrm>
            <a:off x="704850" y="1695450"/>
            <a:ext cx="1714500" cy="400050"/>
          </a:xfrm>
          <a:prstGeom prst="rect">
            <a:avLst/>
          </a:prstGeom>
          <a:solidFill>
            <a:srgbClr val="17202A"/>
          </a:solidFill>
          <a:ln cap="flat" cmpd="sng" w="9525">
            <a:solidFill>
              <a:srgbClr val="172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8"/>
          <p:cNvSpPr/>
          <p:nvPr/>
        </p:nvSpPr>
        <p:spPr>
          <a:xfrm>
            <a:off x="819150" y="1790700"/>
            <a:ext cx="148590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Tool</a:t>
            </a:r>
            <a:endParaRPr/>
          </a:p>
        </p:txBody>
      </p:sp>
      <p:sp>
        <p:nvSpPr>
          <p:cNvPr id="389" name="Google Shape;389;p18"/>
          <p:cNvSpPr/>
          <p:nvPr/>
        </p:nvSpPr>
        <p:spPr>
          <a:xfrm>
            <a:off x="2419350" y="1695450"/>
            <a:ext cx="5810250" cy="400050"/>
          </a:xfrm>
          <a:prstGeom prst="rect">
            <a:avLst/>
          </a:prstGeom>
          <a:solidFill>
            <a:srgbClr val="17202A"/>
          </a:solidFill>
          <a:ln cap="flat" cmpd="sng" w="9525">
            <a:solidFill>
              <a:srgbClr val="172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8"/>
          <p:cNvSpPr/>
          <p:nvPr/>
        </p:nvSpPr>
        <p:spPr>
          <a:xfrm>
            <a:off x="2533650" y="1790700"/>
            <a:ext cx="558165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Where it tends to fit</a:t>
            </a:r>
            <a:endParaRPr/>
          </a:p>
        </p:txBody>
      </p:sp>
      <p:sp>
        <p:nvSpPr>
          <p:cNvPr id="391" name="Google Shape;391;p18"/>
          <p:cNvSpPr/>
          <p:nvPr/>
        </p:nvSpPr>
        <p:spPr>
          <a:xfrm>
            <a:off x="8229600" y="1695450"/>
            <a:ext cx="3257550" cy="400050"/>
          </a:xfrm>
          <a:prstGeom prst="rect">
            <a:avLst/>
          </a:prstGeom>
          <a:solidFill>
            <a:srgbClr val="17202A"/>
          </a:solidFill>
          <a:ln cap="flat" cmpd="sng" w="9525">
            <a:solidFill>
              <a:srgbClr val="172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8"/>
          <p:cNvSpPr/>
          <p:nvPr/>
        </p:nvSpPr>
        <p:spPr>
          <a:xfrm>
            <a:off x="8343900" y="1790700"/>
            <a:ext cx="302895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Simple watch-out</a:t>
            </a:r>
            <a:endParaRPr/>
          </a:p>
        </p:txBody>
      </p:sp>
      <p:sp>
        <p:nvSpPr>
          <p:cNvPr id="393" name="Google Shape;393;p18"/>
          <p:cNvSpPr/>
          <p:nvPr/>
        </p:nvSpPr>
        <p:spPr>
          <a:xfrm>
            <a:off x="704850" y="2095500"/>
            <a:ext cx="1714500" cy="9525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8"/>
          <p:cNvSpPr/>
          <p:nvPr/>
        </p:nvSpPr>
        <p:spPr>
          <a:xfrm>
            <a:off x="819150" y="2209800"/>
            <a:ext cx="1485900" cy="800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Claude</a:t>
            </a:r>
            <a:endParaRPr/>
          </a:p>
        </p:txBody>
      </p:sp>
      <p:sp>
        <p:nvSpPr>
          <p:cNvPr id="395" name="Google Shape;395;p18"/>
          <p:cNvSpPr/>
          <p:nvPr/>
        </p:nvSpPr>
        <p:spPr>
          <a:xfrm>
            <a:off x="2419350" y="2095500"/>
            <a:ext cx="5810250" cy="9525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8"/>
          <p:cNvSpPr/>
          <p:nvPr/>
        </p:nvSpPr>
        <p:spPr>
          <a:xfrm>
            <a:off x="2533650" y="2209800"/>
            <a:ext cx="5581650" cy="800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Long documents, careful drafting, reusable Projects and Skills.</a:t>
            </a:r>
            <a:endParaRPr/>
          </a:p>
        </p:txBody>
      </p:sp>
      <p:sp>
        <p:nvSpPr>
          <p:cNvPr id="397" name="Google Shape;397;p18"/>
          <p:cNvSpPr/>
          <p:nvPr/>
        </p:nvSpPr>
        <p:spPr>
          <a:xfrm>
            <a:off x="8229600" y="2095500"/>
            <a:ext cx="3257550" cy="9525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8"/>
          <p:cNvSpPr/>
          <p:nvPr/>
        </p:nvSpPr>
        <p:spPr>
          <a:xfrm>
            <a:off x="8343900" y="2209800"/>
            <a:ext cx="3028950" cy="800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Still needs source checks and data discipline.</a:t>
            </a:r>
            <a:endParaRPr/>
          </a:p>
        </p:txBody>
      </p:sp>
      <p:sp>
        <p:nvSpPr>
          <p:cNvPr id="399" name="Google Shape;399;p18"/>
          <p:cNvSpPr/>
          <p:nvPr/>
        </p:nvSpPr>
        <p:spPr>
          <a:xfrm>
            <a:off x="704850" y="3048000"/>
            <a:ext cx="1714500" cy="9525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8"/>
          <p:cNvSpPr/>
          <p:nvPr/>
        </p:nvSpPr>
        <p:spPr>
          <a:xfrm>
            <a:off x="819150" y="3162300"/>
            <a:ext cx="1485900" cy="800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ChatGPT</a:t>
            </a:r>
            <a:endParaRPr/>
          </a:p>
        </p:txBody>
      </p:sp>
      <p:sp>
        <p:nvSpPr>
          <p:cNvPr id="401" name="Google Shape;401;p18"/>
          <p:cNvSpPr/>
          <p:nvPr/>
        </p:nvSpPr>
        <p:spPr>
          <a:xfrm>
            <a:off x="2419350" y="3048000"/>
            <a:ext cx="5810250" cy="9525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8"/>
          <p:cNvSpPr/>
          <p:nvPr/>
        </p:nvSpPr>
        <p:spPr>
          <a:xfrm>
            <a:off x="2533650" y="3162300"/>
            <a:ext cx="5581650" cy="800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Broad general assistant, brainstorming, multimodal personal productivity.</a:t>
            </a:r>
            <a:endParaRPr/>
          </a:p>
        </p:txBody>
      </p:sp>
      <p:sp>
        <p:nvSpPr>
          <p:cNvPr id="403" name="Google Shape;403;p18"/>
          <p:cNvSpPr/>
          <p:nvPr/>
        </p:nvSpPr>
        <p:spPr>
          <a:xfrm>
            <a:off x="8229600" y="3048000"/>
            <a:ext cx="3257550" cy="9525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8"/>
          <p:cNvSpPr/>
          <p:nvPr/>
        </p:nvSpPr>
        <p:spPr>
          <a:xfrm>
            <a:off x="8343900" y="3162300"/>
            <a:ext cx="3028950" cy="800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Use only within approved company rules.</a:t>
            </a:r>
            <a:endParaRPr/>
          </a:p>
        </p:txBody>
      </p:sp>
      <p:sp>
        <p:nvSpPr>
          <p:cNvPr id="405" name="Google Shape;405;p18"/>
          <p:cNvSpPr/>
          <p:nvPr/>
        </p:nvSpPr>
        <p:spPr>
          <a:xfrm>
            <a:off x="704850" y="4000500"/>
            <a:ext cx="1714500" cy="9525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8"/>
          <p:cNvSpPr/>
          <p:nvPr/>
        </p:nvSpPr>
        <p:spPr>
          <a:xfrm>
            <a:off x="819150" y="4114800"/>
            <a:ext cx="1485900" cy="800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Copilot</a:t>
            </a:r>
            <a:endParaRPr/>
          </a:p>
        </p:txBody>
      </p:sp>
      <p:sp>
        <p:nvSpPr>
          <p:cNvPr id="407" name="Google Shape;407;p18"/>
          <p:cNvSpPr/>
          <p:nvPr/>
        </p:nvSpPr>
        <p:spPr>
          <a:xfrm>
            <a:off x="2419350" y="4000500"/>
            <a:ext cx="5810250" cy="9525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8"/>
          <p:cNvSpPr/>
          <p:nvPr/>
        </p:nvSpPr>
        <p:spPr>
          <a:xfrm>
            <a:off x="2533650" y="4114800"/>
            <a:ext cx="5581650" cy="800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Microsoft 365 flow: Outlook, Teams, Word, Excel, PowerPoint.</a:t>
            </a:r>
            <a:endParaRPr/>
          </a:p>
        </p:txBody>
      </p:sp>
      <p:sp>
        <p:nvSpPr>
          <p:cNvPr id="409" name="Google Shape;409;p18"/>
          <p:cNvSpPr/>
          <p:nvPr/>
        </p:nvSpPr>
        <p:spPr>
          <a:xfrm>
            <a:off x="8229600" y="4000500"/>
            <a:ext cx="3257550" cy="9525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8"/>
          <p:cNvSpPr/>
          <p:nvPr/>
        </p:nvSpPr>
        <p:spPr>
          <a:xfrm>
            <a:off x="8343900" y="4114800"/>
            <a:ext cx="3028950" cy="8001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Best when the work already lives in M365.</a:t>
            </a:r>
            <a:endParaRPr/>
          </a:p>
        </p:txBody>
      </p:sp>
      <p:sp>
        <p:nvSpPr>
          <p:cNvPr id="411" name="Google Shape;411;p18"/>
          <p:cNvSpPr/>
          <p:nvPr/>
        </p:nvSpPr>
        <p:spPr>
          <a:xfrm>
            <a:off x="704850" y="6438900"/>
            <a:ext cx="5143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5B6470"/>
                </a:solidFill>
                <a:latin typeface="Arial"/>
                <a:ea typeface="Arial"/>
                <a:cs typeface="Arial"/>
                <a:sym typeface="Arial"/>
              </a:rPr>
              <a:t>Claude for </a:t>
            </a:r>
            <a:r>
              <a:rPr lang="en-US" sz="900">
                <a:solidFill>
                  <a:srgbClr val="5B6470"/>
                </a:solidFill>
              </a:rPr>
              <a:t>__</a:t>
            </a:r>
            <a:r>
              <a:rPr b="0" lang="en-US" sz="900">
                <a:solidFill>
                  <a:srgbClr val="5B6470"/>
                </a:solidFill>
                <a:latin typeface="Arial"/>
                <a:ea typeface="Arial"/>
                <a:cs typeface="Arial"/>
                <a:sym typeface="Arial"/>
              </a:rPr>
              <a:t> | July 1</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416" name="Shape 416"/>
        <p:cNvGrpSpPr/>
        <p:nvPr/>
      </p:nvGrpSpPr>
      <p:grpSpPr>
        <a:xfrm>
          <a:off x="0" y="0"/>
          <a:ext cx="0" cy="0"/>
          <a:chOff x="0" y="0"/>
          <a:chExt cx="0" cy="0"/>
        </a:xfrm>
      </p:grpSpPr>
      <p:sp>
        <p:nvSpPr>
          <p:cNvPr id="417" name="Google Shape;417;p19"/>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CLOSE</a:t>
            </a:r>
            <a:endParaRPr/>
          </a:p>
        </p:txBody>
      </p:sp>
      <p:sp>
        <p:nvSpPr>
          <p:cNvPr id="418" name="Google Shape;418;p19"/>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Next Steps</a:t>
            </a:r>
            <a:endParaRPr/>
          </a:p>
        </p:txBody>
      </p:sp>
      <p:sp>
        <p:nvSpPr>
          <p:cNvPr id="419" name="Google Shape;419;p19"/>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9"/>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17</a:t>
            </a:r>
            <a:endParaRPr/>
          </a:p>
        </p:txBody>
      </p:sp>
      <p:sp>
        <p:nvSpPr>
          <p:cNvPr id="421" name="Google Shape;421;p19"/>
          <p:cNvSpPr/>
          <p:nvPr/>
        </p:nvSpPr>
        <p:spPr>
          <a:xfrm>
            <a:off x="704850" y="1790700"/>
            <a:ext cx="3454400" cy="20955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9"/>
          <p:cNvSpPr/>
          <p:nvPr/>
        </p:nvSpPr>
        <p:spPr>
          <a:xfrm>
            <a:off x="895350" y="2000250"/>
            <a:ext cx="3073400"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Start small</a:t>
            </a:r>
            <a:endParaRPr/>
          </a:p>
        </p:txBody>
      </p:sp>
      <p:sp>
        <p:nvSpPr>
          <p:cNvPr id="423" name="Google Shape;423;p19"/>
          <p:cNvSpPr/>
          <p:nvPr/>
        </p:nvSpPr>
        <p:spPr>
          <a:xfrm>
            <a:off x="895350" y="2457450"/>
            <a:ext cx="3073400" cy="1276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Improve one prompt, summarize an approved document, or draft one internal note.</a:t>
            </a:r>
            <a:endParaRPr/>
          </a:p>
        </p:txBody>
      </p:sp>
      <p:sp>
        <p:nvSpPr>
          <p:cNvPr id="424" name="Google Shape;424;p19"/>
          <p:cNvSpPr/>
          <p:nvPr/>
        </p:nvSpPr>
        <p:spPr>
          <a:xfrm>
            <a:off x="4368800" y="1790700"/>
            <a:ext cx="3454400" cy="20955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9"/>
          <p:cNvSpPr/>
          <p:nvPr/>
        </p:nvSpPr>
        <p:spPr>
          <a:xfrm>
            <a:off x="4559300" y="2000250"/>
            <a:ext cx="3073400"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Stay grounded</a:t>
            </a:r>
            <a:endParaRPr/>
          </a:p>
        </p:txBody>
      </p:sp>
      <p:sp>
        <p:nvSpPr>
          <p:cNvPr id="426" name="Google Shape;426;p19"/>
          <p:cNvSpPr/>
          <p:nvPr/>
        </p:nvSpPr>
        <p:spPr>
          <a:xfrm>
            <a:off x="4559300" y="2457450"/>
            <a:ext cx="3073400" cy="1276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Use source material, ask for quotes, and separate facts from open questions.</a:t>
            </a:r>
            <a:endParaRPr/>
          </a:p>
        </p:txBody>
      </p:sp>
      <p:sp>
        <p:nvSpPr>
          <p:cNvPr id="427" name="Google Shape;427;p19"/>
          <p:cNvSpPr/>
          <p:nvPr/>
        </p:nvSpPr>
        <p:spPr>
          <a:xfrm>
            <a:off x="8032750" y="1790700"/>
            <a:ext cx="3454400" cy="20955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9"/>
          <p:cNvSpPr/>
          <p:nvPr/>
        </p:nvSpPr>
        <p:spPr>
          <a:xfrm>
            <a:off x="8223250" y="2000250"/>
            <a:ext cx="3073400"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Review the output</a:t>
            </a:r>
            <a:endParaRPr/>
          </a:p>
        </p:txBody>
      </p:sp>
      <p:sp>
        <p:nvSpPr>
          <p:cNvPr id="429" name="Google Shape;429;p19"/>
          <p:cNvSpPr/>
          <p:nvPr/>
        </p:nvSpPr>
        <p:spPr>
          <a:xfrm>
            <a:off x="8223250" y="2457450"/>
            <a:ext cx="3073400" cy="12763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Check numbers, assumptions, citations, and anything customer-facing.</a:t>
            </a:r>
            <a:endParaRPr/>
          </a:p>
        </p:txBody>
      </p:sp>
      <p:sp>
        <p:nvSpPr>
          <p:cNvPr id="430" name="Google Shape;430;p19"/>
          <p:cNvSpPr/>
          <p:nvPr/>
        </p:nvSpPr>
        <p:spPr>
          <a:xfrm>
            <a:off x="2286000" y="4419600"/>
            <a:ext cx="7620000" cy="990600"/>
          </a:xfrm>
          <a:prstGeom prst="rect">
            <a:avLst/>
          </a:prstGeom>
          <a:solidFill>
            <a:srgbClr val="F3EBD8"/>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2476500" y="4629150"/>
            <a:ext cx="7239000"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Before the long weekend</a:t>
            </a:r>
            <a:endParaRPr/>
          </a:p>
        </p:txBody>
      </p:sp>
      <p:sp>
        <p:nvSpPr>
          <p:cNvPr id="432" name="Google Shape;432;p19"/>
          <p:cNvSpPr/>
          <p:nvPr/>
        </p:nvSpPr>
        <p:spPr>
          <a:xfrm>
            <a:off x="2476500" y="5086350"/>
            <a:ext cx="7239000" cy="3238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Try one small workflow. That is enough to start building the habit.</a:t>
            </a:r>
            <a:endParaRPr/>
          </a:p>
        </p:txBody>
      </p:sp>
      <p:sp>
        <p:nvSpPr>
          <p:cNvPr id="433" name="Google Shape;433;p19"/>
          <p:cNvSpPr/>
          <p:nvPr/>
        </p:nvSpPr>
        <p:spPr>
          <a:xfrm>
            <a:off x="704850" y="6438900"/>
            <a:ext cx="5143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5B6470"/>
                </a:solidFill>
                <a:latin typeface="Arial"/>
                <a:ea typeface="Arial"/>
                <a:cs typeface="Arial"/>
                <a:sym typeface="Arial"/>
              </a:rPr>
              <a:t>Claude for </a:t>
            </a:r>
            <a:r>
              <a:rPr lang="en-US" sz="900">
                <a:solidFill>
                  <a:srgbClr val="5B6470"/>
                </a:solidFill>
              </a:rPr>
              <a:t>__</a:t>
            </a:r>
            <a:r>
              <a:rPr b="0" lang="en-US" sz="900">
                <a:solidFill>
                  <a:srgbClr val="5B6470"/>
                </a:solidFill>
                <a:latin typeface="Arial"/>
                <a:ea typeface="Arial"/>
                <a:cs typeface="Arial"/>
                <a:sym typeface="Arial"/>
              </a:rPr>
              <a:t> | July 1</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438" name="Shape 438"/>
        <p:cNvGrpSpPr/>
        <p:nvPr/>
      </p:nvGrpSpPr>
      <p:grpSpPr>
        <a:xfrm>
          <a:off x="0" y="0"/>
          <a:ext cx="0" cy="0"/>
          <a:chOff x="0" y="0"/>
          <a:chExt cx="0" cy="0"/>
        </a:xfrm>
      </p:grpSpPr>
      <p:sp>
        <p:nvSpPr>
          <p:cNvPr id="439" name="Google Shape;439;p20"/>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APPENDIX</a:t>
            </a:r>
            <a:endParaRPr/>
          </a:p>
        </p:txBody>
      </p:sp>
      <p:sp>
        <p:nvSpPr>
          <p:cNvPr id="440" name="Google Shape;440;p20"/>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Demo Steps</a:t>
            </a:r>
            <a:endParaRPr/>
          </a:p>
        </p:txBody>
      </p:sp>
      <p:sp>
        <p:nvSpPr>
          <p:cNvPr id="441" name="Google Shape;441;p20"/>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0"/>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18</a:t>
            </a:r>
            <a:endParaRPr/>
          </a:p>
        </p:txBody>
      </p:sp>
      <p:sp>
        <p:nvSpPr>
          <p:cNvPr id="443" name="Google Shape;443;p20"/>
          <p:cNvSpPr/>
          <p:nvPr/>
        </p:nvSpPr>
        <p:spPr>
          <a:xfrm>
            <a:off x="704850" y="1676400"/>
            <a:ext cx="857250" cy="400050"/>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0"/>
          <p:cNvSpPr/>
          <p:nvPr/>
        </p:nvSpPr>
        <p:spPr>
          <a:xfrm>
            <a:off x="819150" y="1771650"/>
            <a:ext cx="62865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Step</a:t>
            </a:r>
            <a:endParaRPr/>
          </a:p>
        </p:txBody>
      </p:sp>
      <p:sp>
        <p:nvSpPr>
          <p:cNvPr id="445" name="Google Shape;445;p20"/>
          <p:cNvSpPr/>
          <p:nvPr/>
        </p:nvSpPr>
        <p:spPr>
          <a:xfrm>
            <a:off x="1562100" y="1676400"/>
            <a:ext cx="4572000" cy="400050"/>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0"/>
          <p:cNvSpPr/>
          <p:nvPr/>
        </p:nvSpPr>
        <p:spPr>
          <a:xfrm>
            <a:off x="1676400" y="1771650"/>
            <a:ext cx="434340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What to do</a:t>
            </a:r>
            <a:endParaRPr/>
          </a:p>
        </p:txBody>
      </p:sp>
      <p:sp>
        <p:nvSpPr>
          <p:cNvPr id="447" name="Google Shape;447;p20"/>
          <p:cNvSpPr/>
          <p:nvPr/>
        </p:nvSpPr>
        <p:spPr>
          <a:xfrm>
            <a:off x="6134100" y="1676400"/>
            <a:ext cx="5353050" cy="400050"/>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0"/>
          <p:cNvSpPr/>
          <p:nvPr/>
        </p:nvSpPr>
        <p:spPr>
          <a:xfrm>
            <a:off x="6248400" y="1771650"/>
            <a:ext cx="512445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What to say</a:t>
            </a:r>
            <a:endParaRPr/>
          </a:p>
        </p:txBody>
      </p:sp>
      <p:sp>
        <p:nvSpPr>
          <p:cNvPr id="449" name="Google Shape;449;p20"/>
          <p:cNvSpPr/>
          <p:nvPr/>
        </p:nvSpPr>
        <p:spPr>
          <a:xfrm>
            <a:off x="704850" y="2076450"/>
            <a:ext cx="857250" cy="6858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0"/>
          <p:cNvSpPr/>
          <p:nvPr/>
        </p:nvSpPr>
        <p:spPr>
          <a:xfrm>
            <a:off x="819150" y="2190750"/>
            <a:ext cx="62865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1</a:t>
            </a:r>
            <a:endParaRPr/>
          </a:p>
        </p:txBody>
      </p:sp>
      <p:sp>
        <p:nvSpPr>
          <p:cNvPr id="451" name="Google Shape;451;p20"/>
          <p:cNvSpPr/>
          <p:nvPr/>
        </p:nvSpPr>
        <p:spPr>
          <a:xfrm>
            <a:off x="1562100" y="2076450"/>
            <a:ext cx="4572000" cy="6858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0"/>
          <p:cNvSpPr/>
          <p:nvPr/>
        </p:nvSpPr>
        <p:spPr>
          <a:xfrm>
            <a:off x="1676400" y="2190750"/>
            <a:ext cx="434340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Create a Project: </a:t>
            </a:r>
            <a:r>
              <a:rPr lang="en-US" sz="1200">
                <a:solidFill>
                  <a:srgbClr val="17202A"/>
                </a:solidFill>
              </a:rPr>
              <a:t>__</a:t>
            </a:r>
            <a:r>
              <a:rPr b="0" lang="en-US" sz="1200">
                <a:solidFill>
                  <a:srgbClr val="17202A"/>
                </a:solidFill>
                <a:latin typeface="Arial"/>
                <a:ea typeface="Arial"/>
                <a:cs typeface="Arial"/>
                <a:sym typeface="Arial"/>
              </a:rPr>
              <a:t> Graphics Assistant.</a:t>
            </a:r>
            <a:endParaRPr/>
          </a:p>
        </p:txBody>
      </p:sp>
      <p:sp>
        <p:nvSpPr>
          <p:cNvPr id="453" name="Google Shape;453;p20"/>
          <p:cNvSpPr/>
          <p:nvPr/>
        </p:nvSpPr>
        <p:spPr>
          <a:xfrm>
            <a:off x="6134100" y="2076450"/>
            <a:ext cx="5353050" cy="6858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0"/>
          <p:cNvSpPr/>
          <p:nvPr/>
        </p:nvSpPr>
        <p:spPr>
          <a:xfrm>
            <a:off x="6248400" y="2190750"/>
            <a:ext cx="512445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This keeps instructions and examples in one place.</a:t>
            </a:r>
            <a:endParaRPr/>
          </a:p>
        </p:txBody>
      </p:sp>
      <p:sp>
        <p:nvSpPr>
          <p:cNvPr id="455" name="Google Shape;455;p20"/>
          <p:cNvSpPr/>
          <p:nvPr/>
        </p:nvSpPr>
        <p:spPr>
          <a:xfrm>
            <a:off x="704850" y="2762250"/>
            <a:ext cx="857250" cy="6858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0"/>
          <p:cNvSpPr/>
          <p:nvPr/>
        </p:nvSpPr>
        <p:spPr>
          <a:xfrm>
            <a:off x="819150" y="2876550"/>
            <a:ext cx="62865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2</a:t>
            </a:r>
            <a:endParaRPr/>
          </a:p>
        </p:txBody>
      </p:sp>
      <p:sp>
        <p:nvSpPr>
          <p:cNvPr id="457" name="Google Shape;457;p20"/>
          <p:cNvSpPr/>
          <p:nvPr/>
        </p:nvSpPr>
        <p:spPr>
          <a:xfrm>
            <a:off x="1562100" y="2762250"/>
            <a:ext cx="4572000" cy="6858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0"/>
          <p:cNvSpPr/>
          <p:nvPr/>
        </p:nvSpPr>
        <p:spPr>
          <a:xfrm>
            <a:off x="1676400" y="2876550"/>
            <a:ext cx="434340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Add safe brand or formatting guidance.</a:t>
            </a:r>
            <a:endParaRPr/>
          </a:p>
        </p:txBody>
      </p:sp>
      <p:sp>
        <p:nvSpPr>
          <p:cNvPr id="459" name="Google Shape;459;p20"/>
          <p:cNvSpPr/>
          <p:nvPr/>
        </p:nvSpPr>
        <p:spPr>
          <a:xfrm>
            <a:off x="6134100" y="2762250"/>
            <a:ext cx="5353050" cy="6858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0"/>
          <p:cNvSpPr/>
          <p:nvPr/>
        </p:nvSpPr>
        <p:spPr>
          <a:xfrm>
            <a:off x="6248400" y="2876550"/>
            <a:ext cx="512445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Use approved guidance only. No CUI.</a:t>
            </a:r>
            <a:endParaRPr/>
          </a:p>
        </p:txBody>
      </p:sp>
      <p:sp>
        <p:nvSpPr>
          <p:cNvPr id="461" name="Google Shape;461;p20"/>
          <p:cNvSpPr/>
          <p:nvPr/>
        </p:nvSpPr>
        <p:spPr>
          <a:xfrm>
            <a:off x="704850" y="3448050"/>
            <a:ext cx="857250" cy="6858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0"/>
          <p:cNvSpPr/>
          <p:nvPr/>
        </p:nvSpPr>
        <p:spPr>
          <a:xfrm>
            <a:off x="819150" y="3562350"/>
            <a:ext cx="62865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3</a:t>
            </a:r>
            <a:endParaRPr/>
          </a:p>
        </p:txBody>
      </p:sp>
      <p:sp>
        <p:nvSpPr>
          <p:cNvPr id="463" name="Google Shape;463;p20"/>
          <p:cNvSpPr/>
          <p:nvPr/>
        </p:nvSpPr>
        <p:spPr>
          <a:xfrm>
            <a:off x="1562100" y="3448050"/>
            <a:ext cx="4572000" cy="6858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0"/>
          <p:cNvSpPr/>
          <p:nvPr/>
        </p:nvSpPr>
        <p:spPr>
          <a:xfrm>
            <a:off x="1676400" y="3562350"/>
            <a:ext cx="434340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Paste a plain process or variance bridge.</a:t>
            </a:r>
            <a:endParaRPr/>
          </a:p>
        </p:txBody>
      </p:sp>
      <p:sp>
        <p:nvSpPr>
          <p:cNvPr id="465" name="Google Shape;465;p20"/>
          <p:cNvSpPr/>
          <p:nvPr/>
        </p:nvSpPr>
        <p:spPr>
          <a:xfrm>
            <a:off x="6134100" y="3448050"/>
            <a:ext cx="5353050" cy="6858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0"/>
          <p:cNvSpPr/>
          <p:nvPr/>
        </p:nvSpPr>
        <p:spPr>
          <a:xfrm>
            <a:off x="6248400" y="3562350"/>
            <a:ext cx="512445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Give Claude the rough content first.</a:t>
            </a:r>
            <a:endParaRPr/>
          </a:p>
        </p:txBody>
      </p:sp>
      <p:sp>
        <p:nvSpPr>
          <p:cNvPr id="467" name="Google Shape;467;p20"/>
          <p:cNvSpPr/>
          <p:nvPr/>
        </p:nvSpPr>
        <p:spPr>
          <a:xfrm>
            <a:off x="704850" y="4133850"/>
            <a:ext cx="857250" cy="6858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0"/>
          <p:cNvSpPr/>
          <p:nvPr/>
        </p:nvSpPr>
        <p:spPr>
          <a:xfrm>
            <a:off x="819150" y="4248150"/>
            <a:ext cx="62865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4</a:t>
            </a:r>
            <a:endParaRPr/>
          </a:p>
        </p:txBody>
      </p:sp>
      <p:sp>
        <p:nvSpPr>
          <p:cNvPr id="469" name="Google Shape;469;p20"/>
          <p:cNvSpPr/>
          <p:nvPr/>
        </p:nvSpPr>
        <p:spPr>
          <a:xfrm>
            <a:off x="1562100" y="4133850"/>
            <a:ext cx="4572000" cy="6858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0"/>
          <p:cNvSpPr/>
          <p:nvPr/>
        </p:nvSpPr>
        <p:spPr>
          <a:xfrm>
            <a:off x="1676400" y="4248150"/>
            <a:ext cx="434340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Ask for a cleaner SVG or PNG.</a:t>
            </a:r>
            <a:endParaRPr/>
          </a:p>
        </p:txBody>
      </p:sp>
      <p:sp>
        <p:nvSpPr>
          <p:cNvPr id="471" name="Google Shape;471;p20"/>
          <p:cNvSpPr/>
          <p:nvPr/>
        </p:nvSpPr>
        <p:spPr>
          <a:xfrm>
            <a:off x="6134100" y="4133850"/>
            <a:ext cx="5353050" cy="68580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0"/>
          <p:cNvSpPr/>
          <p:nvPr/>
        </p:nvSpPr>
        <p:spPr>
          <a:xfrm>
            <a:off x="6248400" y="4248150"/>
            <a:ext cx="512445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Tell it to keep labels short and business-ready.</a:t>
            </a:r>
            <a:endParaRPr/>
          </a:p>
        </p:txBody>
      </p:sp>
      <p:sp>
        <p:nvSpPr>
          <p:cNvPr id="473" name="Google Shape;473;p20"/>
          <p:cNvSpPr/>
          <p:nvPr/>
        </p:nvSpPr>
        <p:spPr>
          <a:xfrm>
            <a:off x="704850" y="4819650"/>
            <a:ext cx="857250" cy="6858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0"/>
          <p:cNvSpPr/>
          <p:nvPr/>
        </p:nvSpPr>
        <p:spPr>
          <a:xfrm>
            <a:off x="819150" y="4933950"/>
            <a:ext cx="62865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5</a:t>
            </a:r>
            <a:endParaRPr/>
          </a:p>
        </p:txBody>
      </p:sp>
      <p:sp>
        <p:nvSpPr>
          <p:cNvPr id="475" name="Google Shape;475;p20"/>
          <p:cNvSpPr/>
          <p:nvPr/>
        </p:nvSpPr>
        <p:spPr>
          <a:xfrm>
            <a:off x="1562100" y="4819650"/>
            <a:ext cx="4572000" cy="6858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0"/>
          <p:cNvSpPr/>
          <p:nvPr/>
        </p:nvSpPr>
        <p:spPr>
          <a:xfrm>
            <a:off x="1676400" y="4933950"/>
            <a:ext cx="434340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Review and share if appropriate.</a:t>
            </a:r>
            <a:endParaRPr/>
          </a:p>
        </p:txBody>
      </p:sp>
      <p:sp>
        <p:nvSpPr>
          <p:cNvPr id="477" name="Google Shape;477;p20"/>
          <p:cNvSpPr/>
          <p:nvPr/>
        </p:nvSpPr>
        <p:spPr>
          <a:xfrm>
            <a:off x="6134100" y="4819650"/>
            <a:ext cx="5353050" cy="68580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0"/>
          <p:cNvSpPr/>
          <p:nvPr/>
        </p:nvSpPr>
        <p:spPr>
          <a:xfrm>
            <a:off x="6248400" y="4933950"/>
            <a:ext cx="5124450" cy="5334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Reusable does not mean unreviewed.</a:t>
            </a:r>
            <a:endParaRPr/>
          </a:p>
        </p:txBody>
      </p:sp>
      <p:sp>
        <p:nvSpPr>
          <p:cNvPr id="479" name="Google Shape;479;p20"/>
          <p:cNvSpPr/>
          <p:nvPr/>
        </p:nvSpPr>
        <p:spPr>
          <a:xfrm>
            <a:off x="704850" y="6438900"/>
            <a:ext cx="5143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5B6470"/>
                </a:solidFill>
                <a:latin typeface="Arial"/>
                <a:ea typeface="Arial"/>
                <a:cs typeface="Arial"/>
                <a:sym typeface="Arial"/>
              </a:rPr>
              <a:t>Appendix | Demo steps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484" name="Shape 484"/>
        <p:cNvGrpSpPr/>
        <p:nvPr/>
      </p:nvGrpSpPr>
      <p:grpSpPr>
        <a:xfrm>
          <a:off x="0" y="0"/>
          <a:ext cx="0" cy="0"/>
          <a:chOff x="0" y="0"/>
          <a:chExt cx="0" cy="0"/>
        </a:xfrm>
      </p:grpSpPr>
      <p:sp>
        <p:nvSpPr>
          <p:cNvPr id="485" name="Google Shape;485;p21"/>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APPENDIX</a:t>
            </a:r>
            <a:endParaRPr/>
          </a:p>
        </p:txBody>
      </p:sp>
      <p:sp>
        <p:nvSpPr>
          <p:cNvPr id="486" name="Google Shape;486;p21"/>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Sample Prompts</a:t>
            </a:r>
            <a:endParaRPr/>
          </a:p>
        </p:txBody>
      </p:sp>
      <p:sp>
        <p:nvSpPr>
          <p:cNvPr id="487" name="Google Shape;487;p21"/>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1"/>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19</a:t>
            </a:r>
            <a:endParaRPr/>
          </a:p>
        </p:txBody>
      </p:sp>
      <p:sp>
        <p:nvSpPr>
          <p:cNvPr id="489" name="Google Shape;489;p21"/>
          <p:cNvSpPr/>
          <p:nvPr/>
        </p:nvSpPr>
        <p:spPr>
          <a:xfrm>
            <a:off x="704850" y="1676400"/>
            <a:ext cx="5286375" cy="1590675"/>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1"/>
          <p:cNvSpPr/>
          <p:nvPr/>
        </p:nvSpPr>
        <p:spPr>
          <a:xfrm>
            <a:off x="895350" y="1885950"/>
            <a:ext cx="4905375"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Ask first</a:t>
            </a:r>
            <a:endParaRPr/>
          </a:p>
        </p:txBody>
      </p:sp>
      <p:sp>
        <p:nvSpPr>
          <p:cNvPr id="491" name="Google Shape;491;p21"/>
          <p:cNvSpPr/>
          <p:nvPr/>
        </p:nvSpPr>
        <p:spPr>
          <a:xfrm>
            <a:off x="895350" y="2343150"/>
            <a:ext cx="4905375" cy="7715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Before drafting, ask me 3 questions that would make the answer more useful.</a:t>
            </a:r>
            <a:endParaRPr/>
          </a:p>
        </p:txBody>
      </p:sp>
      <p:sp>
        <p:nvSpPr>
          <p:cNvPr id="492" name="Google Shape;492;p21"/>
          <p:cNvSpPr/>
          <p:nvPr/>
        </p:nvSpPr>
        <p:spPr>
          <a:xfrm>
            <a:off x="6200775" y="1676400"/>
            <a:ext cx="5286375" cy="1590675"/>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1"/>
          <p:cNvSpPr/>
          <p:nvPr/>
        </p:nvSpPr>
        <p:spPr>
          <a:xfrm>
            <a:off x="6391275" y="1885950"/>
            <a:ext cx="4905375"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Document Q&amp;A</a:t>
            </a:r>
            <a:endParaRPr/>
          </a:p>
        </p:txBody>
      </p:sp>
      <p:sp>
        <p:nvSpPr>
          <p:cNvPr id="494" name="Google Shape;494;p21"/>
          <p:cNvSpPr/>
          <p:nvPr/>
        </p:nvSpPr>
        <p:spPr>
          <a:xfrm>
            <a:off x="6391275" y="2343150"/>
            <a:ext cx="4905375" cy="7715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Answer only from the document. Quote the source text first. If the answer is not in the document, say not found.</a:t>
            </a:r>
            <a:endParaRPr/>
          </a:p>
        </p:txBody>
      </p:sp>
      <p:sp>
        <p:nvSpPr>
          <p:cNvPr id="495" name="Google Shape;495;p21"/>
          <p:cNvSpPr/>
          <p:nvPr/>
        </p:nvSpPr>
        <p:spPr>
          <a:xfrm>
            <a:off x="704850" y="3476625"/>
            <a:ext cx="5286375" cy="1590675"/>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1"/>
          <p:cNvSpPr/>
          <p:nvPr/>
        </p:nvSpPr>
        <p:spPr>
          <a:xfrm>
            <a:off x="895350" y="3686175"/>
            <a:ext cx="4905375"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Narrative draft</a:t>
            </a:r>
            <a:endParaRPr/>
          </a:p>
        </p:txBody>
      </p:sp>
      <p:sp>
        <p:nvSpPr>
          <p:cNvPr id="497" name="Google Shape;497;p21"/>
          <p:cNvSpPr/>
          <p:nvPr/>
        </p:nvSpPr>
        <p:spPr>
          <a:xfrm>
            <a:off x="895350" y="4143375"/>
            <a:ext cx="4905375" cy="7715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Explain this in 5 bullets. Separate known facts from open questions. End with follow-ups.</a:t>
            </a:r>
            <a:endParaRPr/>
          </a:p>
        </p:txBody>
      </p:sp>
      <p:sp>
        <p:nvSpPr>
          <p:cNvPr id="498" name="Google Shape;498;p21"/>
          <p:cNvSpPr/>
          <p:nvPr/>
        </p:nvSpPr>
        <p:spPr>
          <a:xfrm>
            <a:off x="6200775" y="3476625"/>
            <a:ext cx="5286375" cy="1590675"/>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1"/>
          <p:cNvSpPr/>
          <p:nvPr/>
        </p:nvSpPr>
        <p:spPr>
          <a:xfrm>
            <a:off x="6391275" y="3686175"/>
            <a:ext cx="4905375" cy="400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7202A"/>
                </a:solidFill>
                <a:latin typeface="Arial"/>
                <a:ea typeface="Arial"/>
                <a:cs typeface="Arial"/>
                <a:sym typeface="Arial"/>
              </a:rPr>
              <a:t>Review pass</a:t>
            </a:r>
            <a:endParaRPr/>
          </a:p>
        </p:txBody>
      </p:sp>
      <p:sp>
        <p:nvSpPr>
          <p:cNvPr id="500" name="Google Shape;500;p21"/>
          <p:cNvSpPr/>
          <p:nvPr/>
        </p:nvSpPr>
        <p:spPr>
          <a:xfrm>
            <a:off x="6391275" y="4143375"/>
            <a:ext cx="4905375" cy="771525"/>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5B6470"/>
                </a:solidFill>
                <a:latin typeface="Arial"/>
                <a:ea typeface="Arial"/>
                <a:cs typeface="Arial"/>
                <a:sym typeface="Arial"/>
              </a:rPr>
              <a:t>Check this for unclear wording, unsupported claims, and numbers that need verification.</a:t>
            </a:r>
            <a:endParaRPr/>
          </a:p>
        </p:txBody>
      </p:sp>
      <p:sp>
        <p:nvSpPr>
          <p:cNvPr id="501" name="Google Shape;501;p21"/>
          <p:cNvSpPr/>
          <p:nvPr/>
        </p:nvSpPr>
        <p:spPr>
          <a:xfrm>
            <a:off x="704850" y="6438900"/>
            <a:ext cx="5143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5B6470"/>
                </a:solidFill>
                <a:latin typeface="Arial"/>
                <a:ea typeface="Arial"/>
                <a:cs typeface="Arial"/>
                <a:sym typeface="Arial"/>
              </a:rPr>
              <a:t>Appendix | Sample prompts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506" name="Shape 506"/>
        <p:cNvGrpSpPr/>
        <p:nvPr/>
      </p:nvGrpSpPr>
      <p:grpSpPr>
        <a:xfrm>
          <a:off x="0" y="0"/>
          <a:ext cx="0" cy="0"/>
          <a:chOff x="0" y="0"/>
          <a:chExt cx="0" cy="0"/>
        </a:xfrm>
      </p:grpSpPr>
      <p:sp>
        <p:nvSpPr>
          <p:cNvPr id="507" name="Google Shape;507;p22"/>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APPENDIX</a:t>
            </a:r>
            <a:endParaRPr/>
          </a:p>
        </p:txBody>
      </p:sp>
      <p:sp>
        <p:nvSpPr>
          <p:cNvPr id="508" name="Google Shape;508;p22"/>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Data Q&amp;A</a:t>
            </a:r>
            <a:endParaRPr/>
          </a:p>
        </p:txBody>
      </p:sp>
      <p:sp>
        <p:nvSpPr>
          <p:cNvPr id="509" name="Google Shape;509;p22"/>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2"/>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20</a:t>
            </a:r>
            <a:endParaRPr/>
          </a:p>
        </p:txBody>
      </p:sp>
      <p:sp>
        <p:nvSpPr>
          <p:cNvPr id="511" name="Google Shape;511;p22"/>
          <p:cNvSpPr/>
          <p:nvPr/>
        </p:nvSpPr>
        <p:spPr>
          <a:xfrm>
            <a:off x="704850" y="1676400"/>
            <a:ext cx="4095750" cy="400050"/>
          </a:xfrm>
          <a:prstGeom prst="rect">
            <a:avLst/>
          </a:prstGeom>
          <a:solidFill>
            <a:srgbClr val="9B3A37"/>
          </a:solidFill>
          <a:ln cap="flat" cmpd="sng" w="9525">
            <a:solidFill>
              <a:srgbClr val="9B3A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2"/>
          <p:cNvSpPr/>
          <p:nvPr/>
        </p:nvSpPr>
        <p:spPr>
          <a:xfrm>
            <a:off x="819150" y="1771650"/>
            <a:ext cx="386715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Question</a:t>
            </a:r>
            <a:endParaRPr/>
          </a:p>
        </p:txBody>
      </p:sp>
      <p:sp>
        <p:nvSpPr>
          <p:cNvPr id="513" name="Google Shape;513;p22"/>
          <p:cNvSpPr/>
          <p:nvPr/>
        </p:nvSpPr>
        <p:spPr>
          <a:xfrm>
            <a:off x="4800600" y="1676400"/>
            <a:ext cx="6686550" cy="400050"/>
          </a:xfrm>
          <a:prstGeom prst="rect">
            <a:avLst/>
          </a:prstGeom>
          <a:solidFill>
            <a:srgbClr val="9B3A37"/>
          </a:solidFill>
          <a:ln cap="flat" cmpd="sng" w="9525">
            <a:solidFill>
              <a:srgbClr val="9B3A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2"/>
          <p:cNvSpPr/>
          <p:nvPr/>
        </p:nvSpPr>
        <p:spPr>
          <a:xfrm>
            <a:off x="4914900" y="1771650"/>
            <a:ext cx="645795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Short answer</a:t>
            </a:r>
            <a:endParaRPr/>
          </a:p>
        </p:txBody>
      </p:sp>
      <p:sp>
        <p:nvSpPr>
          <p:cNvPr id="515" name="Google Shape;515;p22"/>
          <p:cNvSpPr/>
          <p:nvPr/>
        </p:nvSpPr>
        <p:spPr>
          <a:xfrm>
            <a:off x="704850" y="2076450"/>
            <a:ext cx="4095750" cy="7048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2"/>
          <p:cNvSpPr/>
          <p:nvPr/>
        </p:nvSpPr>
        <p:spPr>
          <a:xfrm>
            <a:off x="819150" y="2190750"/>
            <a:ext cx="38671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Can I upload </a:t>
            </a:r>
            <a:r>
              <a:rPr b="1" lang="en-US" sz="1350">
                <a:solidFill>
                  <a:srgbClr val="17202A"/>
                </a:solidFill>
              </a:rPr>
              <a:t>__</a:t>
            </a:r>
            <a:r>
              <a:rPr b="1" lang="en-US" sz="1350">
                <a:solidFill>
                  <a:srgbClr val="17202A"/>
                </a:solidFill>
                <a:latin typeface="Arial"/>
                <a:ea typeface="Arial"/>
                <a:cs typeface="Arial"/>
                <a:sym typeface="Arial"/>
              </a:rPr>
              <a:t> proprietary data?</a:t>
            </a:r>
            <a:endParaRPr/>
          </a:p>
        </p:txBody>
      </p:sp>
      <p:sp>
        <p:nvSpPr>
          <p:cNvPr id="517" name="Google Shape;517;p22"/>
          <p:cNvSpPr/>
          <p:nvPr/>
        </p:nvSpPr>
        <p:spPr>
          <a:xfrm>
            <a:off x="4800600" y="2076450"/>
            <a:ext cx="6686550" cy="7048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2"/>
          <p:cNvSpPr/>
          <p:nvPr/>
        </p:nvSpPr>
        <p:spPr>
          <a:xfrm>
            <a:off x="4914900" y="2190750"/>
            <a:ext cx="64579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Only if internal policy allows. Use the least sensitive useful data.</a:t>
            </a:r>
            <a:endParaRPr/>
          </a:p>
        </p:txBody>
      </p:sp>
      <p:sp>
        <p:nvSpPr>
          <p:cNvPr id="519" name="Google Shape;519;p22"/>
          <p:cNvSpPr/>
          <p:nvPr/>
        </p:nvSpPr>
        <p:spPr>
          <a:xfrm>
            <a:off x="704850" y="2781300"/>
            <a:ext cx="4095750" cy="7048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2"/>
          <p:cNvSpPr/>
          <p:nvPr/>
        </p:nvSpPr>
        <p:spPr>
          <a:xfrm>
            <a:off x="819150" y="2895600"/>
            <a:ext cx="38671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Can I upload CUI?</a:t>
            </a:r>
            <a:endParaRPr/>
          </a:p>
        </p:txBody>
      </p:sp>
      <p:sp>
        <p:nvSpPr>
          <p:cNvPr id="521" name="Google Shape;521;p22"/>
          <p:cNvSpPr/>
          <p:nvPr/>
        </p:nvSpPr>
        <p:spPr>
          <a:xfrm>
            <a:off x="4800600" y="2781300"/>
            <a:ext cx="6686550" cy="7048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2"/>
          <p:cNvSpPr/>
          <p:nvPr/>
        </p:nvSpPr>
        <p:spPr>
          <a:xfrm>
            <a:off x="4914900" y="2895600"/>
            <a:ext cx="64579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No. Do not put CUI into Claude Commercial.</a:t>
            </a:r>
            <a:endParaRPr/>
          </a:p>
        </p:txBody>
      </p:sp>
      <p:sp>
        <p:nvSpPr>
          <p:cNvPr id="523" name="Google Shape;523;p22"/>
          <p:cNvSpPr/>
          <p:nvPr/>
        </p:nvSpPr>
        <p:spPr>
          <a:xfrm>
            <a:off x="704850" y="3486150"/>
            <a:ext cx="4095750" cy="7048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2"/>
          <p:cNvSpPr/>
          <p:nvPr/>
        </p:nvSpPr>
        <p:spPr>
          <a:xfrm>
            <a:off x="819150" y="3600450"/>
            <a:ext cx="38671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Does Claude train on our data?</a:t>
            </a:r>
            <a:endParaRPr/>
          </a:p>
        </p:txBody>
      </p:sp>
      <p:sp>
        <p:nvSpPr>
          <p:cNvPr id="525" name="Google Shape;525;p22"/>
          <p:cNvSpPr/>
          <p:nvPr/>
        </p:nvSpPr>
        <p:spPr>
          <a:xfrm>
            <a:off x="4800600" y="3486150"/>
            <a:ext cx="6686550" cy="7048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2"/>
          <p:cNvSpPr/>
          <p:nvPr/>
        </p:nvSpPr>
        <p:spPr>
          <a:xfrm>
            <a:off x="4914900" y="3600450"/>
            <a:ext cx="64579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Use the approved Enterprise guidance for your tenant. Do not assume consumer rules apply.</a:t>
            </a:r>
            <a:endParaRPr/>
          </a:p>
        </p:txBody>
      </p:sp>
      <p:sp>
        <p:nvSpPr>
          <p:cNvPr id="527" name="Google Shape;527;p22"/>
          <p:cNvSpPr/>
          <p:nvPr/>
        </p:nvSpPr>
        <p:spPr>
          <a:xfrm>
            <a:off x="704850" y="4191000"/>
            <a:ext cx="4095750" cy="7048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2"/>
          <p:cNvSpPr/>
          <p:nvPr/>
        </p:nvSpPr>
        <p:spPr>
          <a:xfrm>
            <a:off x="819150" y="4305300"/>
            <a:ext cx="38671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Who can see chats or files?</a:t>
            </a:r>
            <a:endParaRPr/>
          </a:p>
        </p:txBody>
      </p:sp>
      <p:sp>
        <p:nvSpPr>
          <p:cNvPr id="529" name="Google Shape;529;p22"/>
          <p:cNvSpPr/>
          <p:nvPr/>
        </p:nvSpPr>
        <p:spPr>
          <a:xfrm>
            <a:off x="4800600" y="4191000"/>
            <a:ext cx="6686550" cy="7048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2"/>
          <p:cNvSpPr/>
          <p:nvPr/>
        </p:nvSpPr>
        <p:spPr>
          <a:xfrm>
            <a:off x="4914900" y="4305300"/>
            <a:ext cx="64579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Follow </a:t>
            </a:r>
            <a:r>
              <a:rPr lang="en-US" sz="1200">
                <a:solidFill>
                  <a:srgbClr val="17202A"/>
                </a:solidFill>
              </a:rPr>
              <a:t>__</a:t>
            </a:r>
            <a:r>
              <a:rPr b="0" lang="en-US" sz="1200">
                <a:solidFill>
                  <a:srgbClr val="17202A"/>
                </a:solidFill>
                <a:latin typeface="Arial"/>
                <a:ea typeface="Arial"/>
                <a:cs typeface="Arial"/>
                <a:sym typeface="Arial"/>
              </a:rPr>
              <a:t> admin and retention guidance. Treat uploads as business records if policy says so.</a:t>
            </a:r>
            <a:endParaRPr/>
          </a:p>
        </p:txBody>
      </p:sp>
      <p:sp>
        <p:nvSpPr>
          <p:cNvPr id="531" name="Google Shape;531;p22"/>
          <p:cNvSpPr/>
          <p:nvPr/>
        </p:nvSpPr>
        <p:spPr>
          <a:xfrm>
            <a:off x="704850" y="4895850"/>
            <a:ext cx="4095750" cy="7048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2"/>
          <p:cNvSpPr/>
          <p:nvPr/>
        </p:nvSpPr>
        <p:spPr>
          <a:xfrm>
            <a:off x="819150" y="5010150"/>
            <a:ext cx="38671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How do I know if it made something up?</a:t>
            </a:r>
            <a:endParaRPr/>
          </a:p>
        </p:txBody>
      </p:sp>
      <p:sp>
        <p:nvSpPr>
          <p:cNvPr id="533" name="Google Shape;533;p22"/>
          <p:cNvSpPr/>
          <p:nvPr/>
        </p:nvSpPr>
        <p:spPr>
          <a:xfrm>
            <a:off x="4800600" y="4895850"/>
            <a:ext cx="6686550" cy="7048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2"/>
          <p:cNvSpPr/>
          <p:nvPr/>
        </p:nvSpPr>
        <p:spPr>
          <a:xfrm>
            <a:off x="4914900" y="5010150"/>
            <a:ext cx="64579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Ask for sources, quotes, assumptions, and check the underlying material.</a:t>
            </a:r>
            <a:endParaRPr/>
          </a:p>
        </p:txBody>
      </p:sp>
      <p:sp>
        <p:nvSpPr>
          <p:cNvPr id="535" name="Google Shape;535;p22"/>
          <p:cNvSpPr/>
          <p:nvPr/>
        </p:nvSpPr>
        <p:spPr>
          <a:xfrm>
            <a:off x="704850" y="6438900"/>
            <a:ext cx="5143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5B6470"/>
                </a:solidFill>
                <a:latin typeface="Arial"/>
                <a:ea typeface="Arial"/>
                <a:cs typeface="Arial"/>
                <a:sym typeface="Arial"/>
              </a:rPr>
              <a:t>Appendix | Q&amp;A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540" name="Shape 540"/>
        <p:cNvGrpSpPr/>
        <p:nvPr/>
      </p:nvGrpSpPr>
      <p:grpSpPr>
        <a:xfrm>
          <a:off x="0" y="0"/>
          <a:ext cx="0" cy="0"/>
          <a:chOff x="0" y="0"/>
          <a:chExt cx="0" cy="0"/>
        </a:xfrm>
      </p:grpSpPr>
      <p:sp>
        <p:nvSpPr>
          <p:cNvPr id="541" name="Google Shape;541;p23"/>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APPENDIX</a:t>
            </a:r>
            <a:endParaRPr/>
          </a:p>
        </p:txBody>
      </p:sp>
      <p:sp>
        <p:nvSpPr>
          <p:cNvPr id="542" name="Google Shape;542;p23"/>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Workflow Q&amp;A</a:t>
            </a:r>
            <a:endParaRPr/>
          </a:p>
        </p:txBody>
      </p:sp>
      <p:sp>
        <p:nvSpPr>
          <p:cNvPr id="543" name="Google Shape;543;p23"/>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3"/>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21</a:t>
            </a:r>
            <a:endParaRPr/>
          </a:p>
        </p:txBody>
      </p:sp>
      <p:sp>
        <p:nvSpPr>
          <p:cNvPr id="545" name="Google Shape;545;p23"/>
          <p:cNvSpPr/>
          <p:nvPr/>
        </p:nvSpPr>
        <p:spPr>
          <a:xfrm>
            <a:off x="704850" y="1676400"/>
            <a:ext cx="4095750" cy="400050"/>
          </a:xfrm>
          <a:prstGeom prst="rect">
            <a:avLst/>
          </a:prstGeom>
          <a:solidFill>
            <a:srgbClr val="254F7A"/>
          </a:solidFill>
          <a:ln cap="flat" cmpd="sng" w="9525">
            <a:solidFill>
              <a:srgbClr val="254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3"/>
          <p:cNvSpPr/>
          <p:nvPr/>
        </p:nvSpPr>
        <p:spPr>
          <a:xfrm>
            <a:off x="819150" y="1771650"/>
            <a:ext cx="386715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Question</a:t>
            </a:r>
            <a:endParaRPr/>
          </a:p>
        </p:txBody>
      </p:sp>
      <p:sp>
        <p:nvSpPr>
          <p:cNvPr id="547" name="Google Shape;547;p23"/>
          <p:cNvSpPr/>
          <p:nvPr/>
        </p:nvSpPr>
        <p:spPr>
          <a:xfrm>
            <a:off x="4800600" y="1676400"/>
            <a:ext cx="6686550" cy="400050"/>
          </a:xfrm>
          <a:prstGeom prst="rect">
            <a:avLst/>
          </a:prstGeom>
          <a:solidFill>
            <a:srgbClr val="254F7A"/>
          </a:solidFill>
          <a:ln cap="flat" cmpd="sng" w="9525">
            <a:solidFill>
              <a:srgbClr val="254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3"/>
          <p:cNvSpPr/>
          <p:nvPr/>
        </p:nvSpPr>
        <p:spPr>
          <a:xfrm>
            <a:off x="4914900" y="1771650"/>
            <a:ext cx="6457950" cy="2857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Short answer</a:t>
            </a:r>
            <a:endParaRPr/>
          </a:p>
        </p:txBody>
      </p:sp>
      <p:sp>
        <p:nvSpPr>
          <p:cNvPr id="549" name="Google Shape;549;p23"/>
          <p:cNvSpPr/>
          <p:nvPr/>
        </p:nvSpPr>
        <p:spPr>
          <a:xfrm>
            <a:off x="704850" y="2076450"/>
            <a:ext cx="4095750" cy="7048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3"/>
          <p:cNvSpPr/>
          <p:nvPr/>
        </p:nvSpPr>
        <p:spPr>
          <a:xfrm>
            <a:off x="819150" y="2190750"/>
            <a:ext cx="38671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Can Claude summarize PDFs or contracts?</a:t>
            </a:r>
            <a:endParaRPr/>
          </a:p>
        </p:txBody>
      </p:sp>
      <p:sp>
        <p:nvSpPr>
          <p:cNvPr id="551" name="Google Shape;551;p23"/>
          <p:cNvSpPr/>
          <p:nvPr/>
        </p:nvSpPr>
        <p:spPr>
          <a:xfrm>
            <a:off x="4800600" y="2076450"/>
            <a:ext cx="6686550" cy="7048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3"/>
          <p:cNvSpPr/>
          <p:nvPr/>
        </p:nvSpPr>
        <p:spPr>
          <a:xfrm>
            <a:off x="4914900" y="2190750"/>
            <a:ext cx="64579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Yes, when the document is approved for use. Ask it to cite the source text.</a:t>
            </a:r>
            <a:endParaRPr/>
          </a:p>
        </p:txBody>
      </p:sp>
      <p:sp>
        <p:nvSpPr>
          <p:cNvPr id="553" name="Google Shape;553;p23"/>
          <p:cNvSpPr/>
          <p:nvPr/>
        </p:nvSpPr>
        <p:spPr>
          <a:xfrm>
            <a:off x="704850" y="2781300"/>
            <a:ext cx="4095750" cy="7048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3"/>
          <p:cNvSpPr/>
          <p:nvPr/>
        </p:nvSpPr>
        <p:spPr>
          <a:xfrm>
            <a:off x="819150" y="2895600"/>
            <a:ext cx="38671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Can Claude work with Excel and PowerPoint?</a:t>
            </a:r>
            <a:endParaRPr/>
          </a:p>
        </p:txBody>
      </p:sp>
      <p:sp>
        <p:nvSpPr>
          <p:cNvPr id="555" name="Google Shape;555;p23"/>
          <p:cNvSpPr/>
          <p:nvPr/>
        </p:nvSpPr>
        <p:spPr>
          <a:xfrm>
            <a:off x="4800600" y="2781300"/>
            <a:ext cx="6686550" cy="7048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3"/>
          <p:cNvSpPr/>
          <p:nvPr/>
        </p:nvSpPr>
        <p:spPr>
          <a:xfrm>
            <a:off x="4914900" y="2895600"/>
            <a:ext cx="64579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Yes, depending on the enabled features. Still review formulas, numbers, and formatting.</a:t>
            </a:r>
            <a:endParaRPr/>
          </a:p>
        </p:txBody>
      </p:sp>
      <p:sp>
        <p:nvSpPr>
          <p:cNvPr id="557" name="Google Shape;557;p23"/>
          <p:cNvSpPr/>
          <p:nvPr/>
        </p:nvSpPr>
        <p:spPr>
          <a:xfrm>
            <a:off x="704850" y="3486150"/>
            <a:ext cx="4095750" cy="7048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3"/>
          <p:cNvSpPr/>
          <p:nvPr/>
        </p:nvSpPr>
        <p:spPr>
          <a:xfrm>
            <a:off x="819150" y="3600450"/>
            <a:ext cx="38671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When should I use Opus vs Sonnet?</a:t>
            </a:r>
            <a:endParaRPr/>
          </a:p>
        </p:txBody>
      </p:sp>
      <p:sp>
        <p:nvSpPr>
          <p:cNvPr id="559" name="Google Shape;559;p23"/>
          <p:cNvSpPr/>
          <p:nvPr/>
        </p:nvSpPr>
        <p:spPr>
          <a:xfrm>
            <a:off x="4800600" y="3486150"/>
            <a:ext cx="6686550" cy="7048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3"/>
          <p:cNvSpPr/>
          <p:nvPr/>
        </p:nvSpPr>
        <p:spPr>
          <a:xfrm>
            <a:off x="4914900" y="3600450"/>
            <a:ext cx="64579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Sonnet for most work. Opus for the hardest, highest-value work.</a:t>
            </a:r>
            <a:endParaRPr/>
          </a:p>
        </p:txBody>
      </p:sp>
      <p:sp>
        <p:nvSpPr>
          <p:cNvPr id="561" name="Google Shape;561;p23"/>
          <p:cNvSpPr/>
          <p:nvPr/>
        </p:nvSpPr>
        <p:spPr>
          <a:xfrm>
            <a:off x="704850" y="4191000"/>
            <a:ext cx="4095750" cy="7048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3"/>
          <p:cNvSpPr/>
          <p:nvPr/>
        </p:nvSpPr>
        <p:spPr>
          <a:xfrm>
            <a:off x="819150" y="4305300"/>
            <a:ext cx="38671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Does higher effort always mean better?</a:t>
            </a:r>
            <a:endParaRPr/>
          </a:p>
        </p:txBody>
      </p:sp>
      <p:sp>
        <p:nvSpPr>
          <p:cNvPr id="563" name="Google Shape;563;p23"/>
          <p:cNvSpPr/>
          <p:nvPr/>
        </p:nvSpPr>
        <p:spPr>
          <a:xfrm>
            <a:off x="4800600" y="4191000"/>
            <a:ext cx="6686550" cy="704850"/>
          </a:xfrm>
          <a:prstGeom prst="rect">
            <a:avLst/>
          </a:prstGeom>
          <a:solidFill>
            <a:srgbClr val="FBFAF7"/>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3"/>
          <p:cNvSpPr/>
          <p:nvPr/>
        </p:nvSpPr>
        <p:spPr>
          <a:xfrm>
            <a:off x="4914900" y="4305300"/>
            <a:ext cx="64579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No. It helps hard tasks, but simple tasks may not need it.</a:t>
            </a:r>
            <a:endParaRPr/>
          </a:p>
        </p:txBody>
      </p:sp>
      <p:sp>
        <p:nvSpPr>
          <p:cNvPr id="565" name="Google Shape;565;p23"/>
          <p:cNvSpPr/>
          <p:nvPr/>
        </p:nvSpPr>
        <p:spPr>
          <a:xfrm>
            <a:off x="704850" y="4895850"/>
            <a:ext cx="4095750" cy="7048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3"/>
          <p:cNvSpPr/>
          <p:nvPr/>
        </p:nvSpPr>
        <p:spPr>
          <a:xfrm>
            <a:off x="819150" y="5010150"/>
            <a:ext cx="38671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7202A"/>
                </a:solidFill>
                <a:latin typeface="Arial"/>
                <a:ea typeface="Arial"/>
                <a:cs typeface="Arial"/>
                <a:sym typeface="Arial"/>
              </a:rPr>
              <a:t>Can I use output in a customer deliverable?</a:t>
            </a:r>
            <a:endParaRPr/>
          </a:p>
        </p:txBody>
      </p:sp>
      <p:sp>
        <p:nvSpPr>
          <p:cNvPr id="567" name="Google Shape;567;p23"/>
          <p:cNvSpPr/>
          <p:nvPr/>
        </p:nvSpPr>
        <p:spPr>
          <a:xfrm>
            <a:off x="4800600" y="4895850"/>
            <a:ext cx="6686550" cy="704850"/>
          </a:xfrm>
          <a:prstGeom prst="rect">
            <a:avLst/>
          </a:prstGeom>
          <a:solidFill>
            <a:srgbClr val="FFFFFF"/>
          </a:solidFill>
          <a:ln cap="flat" cmpd="sng" w="9525">
            <a:solidFill>
              <a:srgbClr val="D8D2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3"/>
          <p:cNvSpPr/>
          <p:nvPr/>
        </p:nvSpPr>
        <p:spPr>
          <a:xfrm>
            <a:off x="4914900" y="5010150"/>
            <a:ext cx="6457950" cy="5524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02A"/>
                </a:solidFill>
                <a:latin typeface="Arial"/>
                <a:ea typeface="Arial"/>
                <a:cs typeface="Arial"/>
                <a:sym typeface="Arial"/>
              </a:rPr>
              <a:t>Only after review and only if the data and use case are allowed.</a:t>
            </a:r>
            <a:endParaRPr/>
          </a:p>
        </p:txBody>
      </p:sp>
      <p:sp>
        <p:nvSpPr>
          <p:cNvPr id="569" name="Google Shape;569;p23"/>
          <p:cNvSpPr/>
          <p:nvPr/>
        </p:nvSpPr>
        <p:spPr>
          <a:xfrm>
            <a:off x="704850" y="6438900"/>
            <a:ext cx="5143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5B6470"/>
                </a:solidFill>
                <a:latin typeface="Arial"/>
                <a:ea typeface="Arial"/>
                <a:cs typeface="Arial"/>
                <a:sym typeface="Arial"/>
              </a:rPr>
              <a:t>Appendix | Q&amp;A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574" name="Shape 574"/>
        <p:cNvGrpSpPr/>
        <p:nvPr/>
      </p:nvGrpSpPr>
      <p:grpSpPr>
        <a:xfrm>
          <a:off x="0" y="0"/>
          <a:ext cx="0" cy="0"/>
          <a:chOff x="0" y="0"/>
          <a:chExt cx="0" cy="0"/>
        </a:xfrm>
      </p:grpSpPr>
      <p:sp>
        <p:nvSpPr>
          <p:cNvPr id="575" name="Google Shape;575;p24"/>
          <p:cNvSpPr/>
          <p:nvPr/>
        </p:nvSpPr>
        <p:spPr>
          <a:xfrm>
            <a:off x="704850" y="361950"/>
            <a:ext cx="4000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900">
                <a:solidFill>
                  <a:srgbClr val="16665A"/>
                </a:solidFill>
                <a:latin typeface="Arial"/>
                <a:ea typeface="Arial"/>
                <a:cs typeface="Arial"/>
                <a:sym typeface="Arial"/>
              </a:rPr>
              <a:t>APPENDIX</a:t>
            </a:r>
            <a:endParaRPr/>
          </a:p>
        </p:txBody>
      </p:sp>
      <p:sp>
        <p:nvSpPr>
          <p:cNvPr id="576" name="Google Shape;576;p24"/>
          <p:cNvSpPr/>
          <p:nvPr/>
        </p:nvSpPr>
        <p:spPr>
          <a:xfrm>
            <a:off x="704850" y="638175"/>
            <a:ext cx="8763000" cy="7810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17202A"/>
                </a:solidFill>
                <a:latin typeface="Arial"/>
                <a:ea typeface="Arial"/>
                <a:cs typeface="Arial"/>
                <a:sym typeface="Arial"/>
              </a:rPr>
              <a:t>Sources</a:t>
            </a:r>
            <a:endParaRPr/>
          </a:p>
        </p:txBody>
      </p:sp>
      <p:sp>
        <p:nvSpPr>
          <p:cNvPr id="577" name="Google Shape;577;p24"/>
          <p:cNvSpPr/>
          <p:nvPr/>
        </p:nvSpPr>
        <p:spPr>
          <a:xfrm>
            <a:off x="704850" y="1323975"/>
            <a:ext cx="1200150" cy="28575"/>
          </a:xfrm>
          <a:prstGeom prst="rect">
            <a:avLst/>
          </a:prstGeom>
          <a:solidFill>
            <a:srgbClr val="16665A"/>
          </a:solidFill>
          <a:ln cap="flat" cmpd="sng" w="9525">
            <a:solidFill>
              <a:srgbClr val="166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4"/>
          <p:cNvSpPr/>
          <p:nvPr/>
        </p:nvSpPr>
        <p:spPr>
          <a:xfrm>
            <a:off x="11287125" y="381000"/>
            <a:ext cx="3810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5B6470"/>
                </a:solidFill>
                <a:latin typeface="Arial"/>
                <a:ea typeface="Arial"/>
                <a:cs typeface="Arial"/>
                <a:sym typeface="Arial"/>
              </a:rPr>
              <a:t>22</a:t>
            </a:r>
            <a:endParaRPr/>
          </a:p>
        </p:txBody>
      </p:sp>
      <p:sp>
        <p:nvSpPr>
          <p:cNvPr id="579" name="Google Shape;579;p24"/>
          <p:cNvSpPr/>
          <p:nvPr/>
        </p:nvSpPr>
        <p:spPr>
          <a:xfrm>
            <a:off x="914400" y="1676400"/>
            <a:ext cx="10001250" cy="342900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17202A"/>
                </a:solidFill>
                <a:latin typeface="Arial"/>
                <a:ea typeface="Arial"/>
                <a:cs typeface="Arial"/>
                <a:sym typeface="Arial"/>
              </a:rPr>
              <a:t>• Anthropic Academy / Claude 101</a:t>
            </a:r>
            <a:endParaRPr/>
          </a:p>
          <a:p>
            <a:pPr indent="0" lvl="0" marL="0" marR="0" rtl="0" algn="l">
              <a:spcBef>
                <a:spcPts val="0"/>
              </a:spcBef>
              <a:spcAft>
                <a:spcPts val="0"/>
              </a:spcAft>
              <a:buNone/>
            </a:pPr>
            <a:r>
              <a:rPr b="0" lang="en-US" sz="1725">
                <a:solidFill>
                  <a:srgbClr val="17202A"/>
                </a:solidFill>
                <a:latin typeface="Arial"/>
                <a:ea typeface="Arial"/>
                <a:cs typeface="Arial"/>
                <a:sym typeface="Arial"/>
              </a:rPr>
              <a:t>• Claude for work and Claude Enterprise resources</a:t>
            </a:r>
            <a:endParaRPr/>
          </a:p>
          <a:p>
            <a:pPr indent="0" lvl="0" marL="0" marR="0" rtl="0" algn="l">
              <a:spcBef>
                <a:spcPts val="0"/>
              </a:spcBef>
              <a:spcAft>
                <a:spcPts val="0"/>
              </a:spcAft>
              <a:buNone/>
            </a:pPr>
            <a:r>
              <a:rPr b="0" lang="en-US" sz="1725">
                <a:solidFill>
                  <a:srgbClr val="17202A"/>
                </a:solidFill>
                <a:latin typeface="Arial"/>
                <a:ea typeface="Arial"/>
                <a:cs typeface="Arial"/>
                <a:sym typeface="Arial"/>
              </a:rPr>
              <a:t>• Claude prompt engineering and hallucination guidance</a:t>
            </a:r>
            <a:endParaRPr/>
          </a:p>
          <a:p>
            <a:pPr indent="0" lvl="0" marL="0" marR="0" rtl="0" algn="l">
              <a:spcBef>
                <a:spcPts val="0"/>
              </a:spcBef>
              <a:spcAft>
                <a:spcPts val="0"/>
              </a:spcAft>
              <a:buNone/>
            </a:pPr>
            <a:r>
              <a:rPr b="0" lang="en-US" sz="1725">
                <a:solidFill>
                  <a:srgbClr val="17202A"/>
                </a:solidFill>
                <a:latin typeface="Arial"/>
                <a:ea typeface="Arial"/>
                <a:cs typeface="Arial"/>
                <a:sym typeface="Arial"/>
              </a:rPr>
              <a:t>• Claude glossary: context window, tokens, LLMs</a:t>
            </a:r>
            <a:endParaRPr/>
          </a:p>
          <a:p>
            <a:pPr indent="0" lvl="0" marL="0" marR="0" rtl="0" algn="l">
              <a:spcBef>
                <a:spcPts val="0"/>
              </a:spcBef>
              <a:spcAft>
                <a:spcPts val="0"/>
              </a:spcAft>
              <a:buNone/>
            </a:pPr>
            <a:r>
              <a:rPr b="0" lang="en-US" sz="1725">
                <a:solidFill>
                  <a:srgbClr val="17202A"/>
                </a:solidFill>
                <a:latin typeface="Arial"/>
                <a:ea typeface="Arial"/>
                <a:cs typeface="Arial"/>
                <a:sym typeface="Arial"/>
              </a:rPr>
              <a:t>• Claude styles: concise, formal, explanatory, custom</a:t>
            </a:r>
            <a:endParaRPr/>
          </a:p>
          <a:p>
            <a:pPr indent="0" lvl="0" marL="0" marR="0" rtl="0" algn="l">
              <a:spcBef>
                <a:spcPts val="0"/>
              </a:spcBef>
              <a:spcAft>
                <a:spcPts val="0"/>
              </a:spcAft>
              <a:buNone/>
            </a:pPr>
            <a:r>
              <a:rPr b="0" lang="en-US" sz="1725">
                <a:solidFill>
                  <a:srgbClr val="17202A"/>
                </a:solidFill>
                <a:latin typeface="Arial"/>
                <a:ea typeface="Arial"/>
                <a:cs typeface="Arial"/>
                <a:sym typeface="Arial"/>
              </a:rPr>
              <a:t>• Claude model, effort, Projects, and Skills docs</a:t>
            </a:r>
            <a:endParaRPr/>
          </a:p>
          <a:p>
            <a:pPr indent="0" lvl="0" marL="0" marR="0" rtl="0" algn="l">
              <a:spcBef>
                <a:spcPts val="0"/>
              </a:spcBef>
              <a:spcAft>
                <a:spcPts val="0"/>
              </a:spcAft>
              <a:buNone/>
            </a:pPr>
            <a:r>
              <a:rPr b="0" lang="en-US" sz="1725">
                <a:solidFill>
                  <a:srgbClr val="17202A"/>
                </a:solidFill>
                <a:latin typeface="Arial"/>
                <a:ea typeface="Arial"/>
                <a:cs typeface="Arial"/>
                <a:sym typeface="Arial"/>
              </a:rPr>
              <a:t>• Claude Code, Design, and Cowork product pages</a:t>
            </a:r>
            <a:endParaRPr/>
          </a:p>
        </p:txBody>
      </p:sp>
      <p:sp>
        <p:nvSpPr>
          <p:cNvPr id="580" name="Google Shape;580;p24"/>
          <p:cNvSpPr/>
          <p:nvPr/>
        </p:nvSpPr>
        <p:spPr>
          <a:xfrm>
            <a:off x="704850" y="6438900"/>
            <a:ext cx="5143500" cy="209550"/>
          </a:xfrm>
          <a:prstGeom prst="rect">
            <a:avLst/>
          </a:prstGeom>
          <a:solidFill>
            <a:srgbClr val="000000">
              <a:alpha val="0"/>
            </a:srgbClr>
          </a:solidFill>
          <a:ln cap="flat" cmpd="sng" w="9525">
            <a:solidFill>
              <a:srgbClr val="000000">
                <a:alpha val="0"/>
              </a:srgbClr>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5B6470"/>
                </a:solidFill>
                <a:latin typeface="Arial"/>
                <a:ea typeface="Arial"/>
                <a:cs typeface="Arial"/>
                <a:sym typeface="Arial"/>
              </a:rPr>
              <a:t>Appendix | Sources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